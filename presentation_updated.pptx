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731520" y="411480"/>
            <a:ext cx="7315200" cy="256032"/>
          </a:xfrm>
          <a:prstGeom prst="rect">
            <a:avLst/>
          </a:prstGeom>
          <a:noFill/>
          <a:ln/>
        </p:spPr>
        <p:txBody>
          <a:bodyPr wrap="square" rtlCol="0" anchor="ctr"/>
          <a:lstStyle/>
          <a:p>
            <a:pPr indent="0" marL="0">
              <a:buNone/>
            </a:pPr>
            <a:r>
              <a:rPr lang="en-US" sz="1000" b="1" spc="200" kern="0" dirty="0">
                <a:solidFill>
                  <a:srgbClr val="F59E0B"/>
                </a:solidFill>
              </a:rPr>
              <a:t>UNDERWORLD ENGINE • TEAM BRIEFING</a:t>
            </a:r>
            <a:endParaRPr lang="en-US" sz="1000" dirty="0"/>
          </a:p>
        </p:txBody>
      </p:sp>
      <p:sp>
        <p:nvSpPr>
          <p:cNvPr id="3" name="Text 1"/>
          <p:cNvSpPr/>
          <p:nvPr/>
        </p:nvSpPr>
        <p:spPr>
          <a:xfrm>
            <a:off x="731520" y="658368"/>
            <a:ext cx="10725912" cy="502920"/>
          </a:xfrm>
          <a:prstGeom prst="rect">
            <a:avLst/>
          </a:prstGeom>
          <a:noFill/>
          <a:ln/>
        </p:spPr>
        <p:txBody>
          <a:bodyPr wrap="square" rtlCol="0" anchor="ctr"/>
          <a:lstStyle/>
          <a:p>
            <a:pPr indent="0" marL="0">
              <a:buNone/>
            </a:pPr>
            <a:r>
              <a:rPr lang="en-US" sz="2600" b="1" dirty="0">
                <a:solidFill>
                  <a:srgbClr val="FEF3C7"/>
                </a:solidFill>
              </a:rPr>
              <a:t>ESCAPE FROM TARTARUS</a:t>
            </a:r>
            <a:endParaRPr lang="en-US" sz="2600" dirty="0"/>
          </a:p>
        </p:txBody>
      </p:sp>
      <p:sp>
        <p:nvSpPr>
          <p:cNvPr id="4" name="Text 2"/>
          <p:cNvSpPr/>
          <p:nvPr/>
        </p:nvSpPr>
        <p:spPr>
          <a:xfrm>
            <a:off x="731520" y="1170432"/>
            <a:ext cx="10725912" cy="292608"/>
          </a:xfrm>
          <a:prstGeom prst="rect">
            <a:avLst/>
          </a:prstGeom>
          <a:noFill/>
          <a:ln/>
        </p:spPr>
        <p:txBody>
          <a:bodyPr wrap="square" rtlCol="0" anchor="ctr"/>
          <a:lstStyle/>
          <a:p>
            <a:pPr indent="0" marL="0">
              <a:buNone/>
            </a:pPr>
            <a:r>
              <a:rPr lang="en-US" sz="1200" dirty="0">
                <a:solidFill>
                  <a:srgbClr val="94A3B8"/>
                </a:solidFill>
              </a:rPr>
              <a:t>Complete Game Overview &amp; 3-Round Journey</a:t>
            </a:r>
            <a:endParaRPr lang="en-US" sz="1200" dirty="0"/>
          </a:p>
        </p:txBody>
      </p:sp>
      <p:sp>
        <p:nvSpPr>
          <p:cNvPr id="5" name="Shape 3"/>
          <p:cNvSpPr/>
          <p:nvPr/>
        </p:nvSpPr>
        <p:spPr>
          <a:xfrm>
            <a:off x="731520" y="1645920"/>
            <a:ext cx="5257800" cy="3474720"/>
          </a:xfrm>
          <a:prstGeom prst="roundRect">
            <a:avLst>
              <a:gd name="adj" fmla="val 2105"/>
            </a:avLst>
          </a:prstGeom>
          <a:solidFill>
            <a:srgbClr val="141A2A"/>
          </a:solidFill>
          <a:ln w="12700">
            <a:solidFill>
              <a:srgbClr val="334155"/>
            </a:solidFill>
            <a:prstDash val="solid"/>
          </a:ln>
        </p:spPr>
      </p:sp>
      <p:sp>
        <p:nvSpPr>
          <p:cNvPr id="6" name="Text 4"/>
          <p:cNvSpPr/>
          <p:nvPr/>
        </p:nvSpPr>
        <p:spPr>
          <a:xfrm>
            <a:off x="960120" y="1828800"/>
            <a:ext cx="4800600" cy="365760"/>
          </a:xfrm>
          <a:prstGeom prst="rect">
            <a:avLst/>
          </a:prstGeom>
          <a:noFill/>
          <a:ln/>
        </p:spPr>
        <p:txBody>
          <a:bodyPr wrap="square" rtlCol="0" anchor="ctr"/>
          <a:lstStyle/>
          <a:p>
            <a:pPr indent="0" marL="0">
              <a:buNone/>
            </a:pPr>
            <a:r>
              <a:rPr lang="en-US" sz="1600" b="1" dirty="0">
                <a:solidFill>
                  <a:srgbClr val="FEF3C7"/>
                </a:solidFill>
              </a:rPr>
              <a:t>👥 The 5-Player Crews</a:t>
            </a:r>
            <a:endParaRPr lang="en-US" sz="1600" dirty="0"/>
          </a:p>
        </p:txBody>
      </p:sp>
      <p:sp>
        <p:nvSpPr>
          <p:cNvPr id="7" name="Text 5"/>
          <p:cNvSpPr/>
          <p:nvPr/>
        </p:nvSpPr>
        <p:spPr>
          <a:xfrm>
            <a:off x="960120" y="2286000"/>
            <a:ext cx="4800600" cy="2651760"/>
          </a:xfrm>
          <a:prstGeom prst="rect">
            <a:avLst/>
          </a:prstGeom>
          <a:noFill/>
          <a:ln/>
        </p:spPr>
        <p:txBody>
          <a:bodyPr wrap="square" rtlCol="0" anchor="ctr"/>
          <a:lstStyle/>
          <a:p>
            <a:pPr indent="0" marL="0">
              <a:lnSpc>
                <a:spcPct val="115000"/>
              </a:lnSpc>
              <a:buNone/>
            </a:pPr>
            <a:r>
              <a:rPr lang="en-US" sz="1150" b="1" dirty="0">
                <a:solidFill>
                  <a:srgbClr val="E2E8F0"/>
                </a:solidFill>
              </a:rPr>
              <a:t>• 5 Distinct Roles: </a:t>
            </a:r>
            <a:pPr indent="0" marL="0">
              <a:lnSpc>
                <a:spcPct val="115000"/>
              </a:lnSpc>
              <a:buNone/>
            </a:pPr>
            <a:r>
              <a:rPr lang="en-US" sz="1150" dirty="0">
                <a:solidFill>
                  <a:srgbClr val="94A3B8"/>
                </a:solidFill>
              </a:rPr>
              <a:t>Navigator, Oracle, Scholar, Torchbearer, Negotiator.
</a:t>
            </a:r>
            <a:pPr indent="0" marL="0">
              <a:lnSpc>
                <a:spcPct val="115000"/>
              </a:lnSpc>
              <a:buNone/>
            </a:pPr>
            <a:r>
              <a:rPr lang="en-US" sz="1150" b="1" dirty="0">
                <a:solidFill>
                  <a:srgbClr val="E2E8F0"/>
                </a:solidFill>
              </a:rPr>
              <a:t>• Simple Identity (No Complex Powers): </a:t>
            </a:r>
            <a:pPr indent="0" marL="0">
              <a:lnSpc>
                <a:spcPct val="115000"/>
              </a:lnSpc>
              <a:buNone/>
            </a:pPr>
            <a:r>
              <a:rPr lang="en-US" sz="1150" dirty="0">
                <a:solidFill>
                  <a:srgbClr val="94A3B8"/>
                </a:solidFill>
              </a:rPr>
              <a:t>Roles serve as crew member identities and tablet puzzle slots. Players don't need to manage complicated abilities.
</a:t>
            </a:r>
            <a:pPr indent="0" marL="0">
              <a:lnSpc>
                <a:spcPct val="115000"/>
              </a:lnSpc>
              <a:buNone/>
            </a:pPr>
            <a:r>
              <a:rPr lang="en-US" sz="1150" b="1" dirty="0">
                <a:solidFill>
                  <a:srgbClr val="E2E8F0"/>
                </a:solidFill>
              </a:rPr>
              <a:t>• 1-Tap Emoji Joining: </a:t>
            </a:r>
            <a:pPr indent="0" marL="0">
              <a:lnSpc>
                <a:spcPct val="115000"/>
              </a:lnSpc>
              <a:buNone/>
            </a:pPr>
            <a:r>
              <a:rPr lang="en-US" sz="1150" dirty="0">
                <a:solidFill>
                  <a:srgbClr val="94A3B8"/>
                </a:solidFill>
              </a:rPr>
              <a:t>One player creates the crew; teammates join by tapping 3 emojis on screen (e.g. Skull • Bolt • Shield).
</a:t>
            </a:r>
            <a:pPr indent="0" marL="0">
              <a:lnSpc>
                <a:spcPct val="115000"/>
              </a:lnSpc>
              <a:buNone/>
            </a:pPr>
            <a:r>
              <a:rPr lang="en-US" sz="1150" b="1" dirty="0">
                <a:solidFill>
                  <a:srgbClr val="E2E8F0"/>
                </a:solidFill>
              </a:rPr>
              <a:t>• Zero Friction: </a:t>
            </a:r>
            <a:pPr indent="0" marL="0">
              <a:lnSpc>
                <a:spcPct val="115000"/>
              </a:lnSpc>
              <a:buNone/>
            </a:pPr>
            <a:r>
              <a:rPr lang="en-US" sz="1150" dirty="0">
                <a:solidFill>
                  <a:srgbClr val="10B981"/>
                </a:solidFill>
              </a:rPr>
              <a:t>No apps to download, no typing, no camera permissions required.</a:t>
            </a:r>
            <a:endParaRPr lang="en-US" sz="1150" dirty="0"/>
          </a:p>
        </p:txBody>
      </p:sp>
      <p:sp>
        <p:nvSpPr>
          <p:cNvPr id="8" name="Shape 6"/>
          <p:cNvSpPr/>
          <p:nvPr/>
        </p:nvSpPr>
        <p:spPr>
          <a:xfrm>
            <a:off x="6199632" y="1645920"/>
            <a:ext cx="5257800" cy="3474720"/>
          </a:xfrm>
          <a:prstGeom prst="roundRect">
            <a:avLst>
              <a:gd name="adj" fmla="val 2105"/>
            </a:avLst>
          </a:prstGeom>
          <a:solidFill>
            <a:srgbClr val="141A2A"/>
          </a:solidFill>
          <a:ln w="12700">
            <a:solidFill>
              <a:srgbClr val="334155"/>
            </a:solidFill>
            <a:prstDash val="solid"/>
          </a:ln>
        </p:spPr>
      </p:sp>
      <p:sp>
        <p:nvSpPr>
          <p:cNvPr id="9" name="Text 7"/>
          <p:cNvSpPr/>
          <p:nvPr/>
        </p:nvSpPr>
        <p:spPr>
          <a:xfrm>
            <a:off x="6428232" y="1828800"/>
            <a:ext cx="4800600" cy="365760"/>
          </a:xfrm>
          <a:prstGeom prst="rect">
            <a:avLst/>
          </a:prstGeom>
          <a:noFill/>
          <a:ln/>
        </p:spPr>
        <p:txBody>
          <a:bodyPr wrap="square" rtlCol="0" anchor="ctr"/>
          <a:lstStyle/>
          <a:p>
            <a:pPr indent="0" marL="0">
              <a:buNone/>
            </a:pPr>
            <a:r>
              <a:rPr lang="en-US" sz="1600" b="1" dirty="0">
                <a:solidFill>
                  <a:srgbClr val="FEF3C7"/>
                </a:solidFill>
              </a:rPr>
              <a:t>🏆 The Ultimate Objective</a:t>
            </a:r>
            <a:endParaRPr lang="en-US" sz="1600" dirty="0"/>
          </a:p>
        </p:txBody>
      </p:sp>
      <p:sp>
        <p:nvSpPr>
          <p:cNvPr id="10" name="Text 8"/>
          <p:cNvSpPr/>
          <p:nvPr/>
        </p:nvSpPr>
        <p:spPr>
          <a:xfrm>
            <a:off x="6428232" y="2286000"/>
            <a:ext cx="4800600" cy="2651760"/>
          </a:xfrm>
          <a:prstGeom prst="rect">
            <a:avLst/>
          </a:prstGeom>
          <a:noFill/>
          <a:ln/>
        </p:spPr>
        <p:txBody>
          <a:bodyPr wrap="square" rtlCol="0" anchor="ctr"/>
          <a:lstStyle/>
          <a:p>
            <a:pPr indent="0" marL="0">
              <a:lnSpc>
                <a:spcPct val="115000"/>
              </a:lnSpc>
              <a:buNone/>
            </a:pPr>
            <a:r>
              <a:rPr lang="en-US" sz="1150" b="1" dirty="0">
                <a:solidFill>
                  <a:srgbClr val="E2E8F0"/>
                </a:solidFill>
              </a:rPr>
              <a:t>• Rounds 1 &amp; 2 (Points Pool): </a:t>
            </a:r>
            <a:pPr indent="0" marL="0">
              <a:lnSpc>
                <a:spcPct val="115000"/>
              </a:lnSpc>
              <a:buNone/>
            </a:pPr>
            <a:r>
              <a:rPr lang="en-US" sz="1150" dirty="0">
                <a:solidFill>
                  <a:srgbClr val="94A3B8"/>
                </a:solidFill>
              </a:rPr>
              <a:t>Earn points through team physical coordination and tactical room psychology.
</a:t>
            </a:r>
            <a:pPr indent="0" marL="0">
              <a:lnSpc>
                <a:spcPct val="115000"/>
              </a:lnSpc>
              <a:buNone/>
            </a:pPr>
            <a:r>
              <a:rPr lang="en-US" sz="1150" b="1" dirty="0">
                <a:solidFill>
                  <a:srgbClr val="E2E8F0"/>
                </a:solidFill>
              </a:rPr>
              <a:t>• Starting Head-Start: </a:t>
            </a:r>
            <a:pPr indent="0" marL="0">
              <a:lnSpc>
                <a:spcPct val="115000"/>
              </a:lnSpc>
              <a:buNone/>
            </a:pPr>
            <a:r>
              <a:rPr lang="en-US" sz="1150" dirty="0">
                <a:solidFill>
                  <a:srgbClr val="94A3B8"/>
                </a:solidFill>
              </a:rPr>
              <a:t>Cumulative points convert directly into starting distance meters on the River Styx in Round 3!
</a:t>
            </a:r>
            <a:pPr indent="0" marL="0">
              <a:lnSpc>
                <a:spcPct val="115000"/>
              </a:lnSpc>
              <a:buNone/>
            </a:pPr>
            <a:r>
              <a:rPr lang="en-US" sz="1150" b="1" dirty="0">
                <a:solidFill>
                  <a:srgbClr val="E2E8F0"/>
                </a:solidFill>
              </a:rPr>
              <a:t>• Podium Victory: </a:t>
            </a:r>
            <a:pPr indent="0" marL="0">
              <a:lnSpc>
                <a:spcPct val="115000"/>
              </a:lnSpc>
              <a:buNone/>
            </a:pPr>
            <a:r>
              <a:rPr lang="en-US" sz="1150" dirty="0">
                <a:solidFill>
                  <a:srgbClr val="F59E0B"/>
                </a:solidFill>
              </a:rPr>
              <a:t>First 3 crews to cross the 1,000-meter exit portal win Gold, Silver, and Bronze medals.
</a:t>
            </a:r>
            <a:pPr indent="0" marL="0">
              <a:lnSpc>
                <a:spcPct val="115000"/>
              </a:lnSpc>
              <a:buNone/>
            </a:pPr>
            <a:r>
              <a:rPr lang="en-US" sz="1150" b="1" dirty="0">
                <a:solidFill>
                  <a:srgbClr val="E2E8F0"/>
                </a:solidFill>
              </a:rPr>
              <a:t>• High Energy: </a:t>
            </a:r>
            <a:pPr indent="0" marL="0">
              <a:lnSpc>
                <a:spcPct val="115000"/>
              </a:lnSpc>
              <a:buNone/>
            </a:pPr>
            <a:r>
              <a:rPr lang="en-US" sz="1150" dirty="0">
                <a:solidFill>
                  <a:srgbClr val="94A3B8"/>
                </a:solidFill>
              </a:rPr>
              <a:t>The whole experience runs in ~25-30 minutes of fast, social interaction.</a:t>
            </a:r>
            <a:endParaRPr lang="en-US" sz="1150" dirty="0"/>
          </a:p>
        </p:txBody>
      </p:sp>
      <p:sp>
        <p:nvSpPr>
          <p:cNvPr id="11" name="Shape 9"/>
          <p:cNvSpPr/>
          <p:nvPr/>
        </p:nvSpPr>
        <p:spPr>
          <a:xfrm>
            <a:off x="731520" y="5349240"/>
            <a:ext cx="2514600" cy="731520"/>
          </a:xfrm>
          <a:prstGeom prst="roundRect">
            <a:avLst>
              <a:gd name="adj" fmla="val 10000"/>
            </a:avLst>
          </a:prstGeom>
          <a:solidFill>
            <a:srgbClr val="141A2A"/>
          </a:solidFill>
          <a:ln w="19050">
            <a:solidFill>
              <a:srgbClr val="F59E0B"/>
            </a:solidFill>
            <a:prstDash val="solid"/>
          </a:ln>
        </p:spPr>
      </p:sp>
      <p:sp>
        <p:nvSpPr>
          <p:cNvPr id="12" name="Text 10"/>
          <p:cNvSpPr/>
          <p:nvPr/>
        </p:nvSpPr>
        <p:spPr>
          <a:xfrm>
            <a:off x="822960" y="5486400"/>
            <a:ext cx="2331720" cy="457200"/>
          </a:xfrm>
          <a:prstGeom prst="rect">
            <a:avLst/>
          </a:prstGeom>
          <a:noFill/>
          <a:ln/>
        </p:spPr>
        <p:txBody>
          <a:bodyPr wrap="square" rtlCol="0" anchor="ctr"/>
          <a:lstStyle/>
          <a:p>
            <a:pPr algn="ctr" indent="0" marL="0">
              <a:buNone/>
            </a:pPr>
            <a:r>
              <a:rPr lang="en-US" sz="1200" b="1" dirty="0">
                <a:solidFill>
                  <a:srgbClr val="FEF3C7"/>
                </a:solidFill>
              </a:rPr>
              <a:t>0. Lobby Assembly</a:t>
            </a:r>
            <a:endParaRPr lang="en-US" sz="1200" dirty="0"/>
          </a:p>
        </p:txBody>
      </p:sp>
      <p:sp>
        <p:nvSpPr>
          <p:cNvPr id="13" name="Shape 11"/>
          <p:cNvSpPr/>
          <p:nvPr/>
        </p:nvSpPr>
        <p:spPr>
          <a:xfrm>
            <a:off x="3465576" y="5349240"/>
            <a:ext cx="2514600" cy="731520"/>
          </a:xfrm>
          <a:prstGeom prst="roundRect">
            <a:avLst>
              <a:gd name="adj" fmla="val 10000"/>
            </a:avLst>
          </a:prstGeom>
          <a:solidFill>
            <a:srgbClr val="141A2A"/>
          </a:solidFill>
          <a:ln w="19050">
            <a:solidFill>
              <a:srgbClr val="F59E0B"/>
            </a:solidFill>
            <a:prstDash val="solid"/>
          </a:ln>
        </p:spPr>
      </p:sp>
      <p:sp>
        <p:nvSpPr>
          <p:cNvPr id="14" name="Text 12"/>
          <p:cNvSpPr/>
          <p:nvPr/>
        </p:nvSpPr>
        <p:spPr>
          <a:xfrm>
            <a:off x="3557016" y="5486400"/>
            <a:ext cx="2331720" cy="457200"/>
          </a:xfrm>
          <a:prstGeom prst="rect">
            <a:avLst/>
          </a:prstGeom>
          <a:noFill/>
          <a:ln/>
        </p:spPr>
        <p:txBody>
          <a:bodyPr wrap="square" rtlCol="0" anchor="ctr"/>
          <a:lstStyle/>
          <a:p>
            <a:pPr algn="ctr" indent="0" marL="0">
              <a:buNone/>
            </a:pPr>
            <a:r>
              <a:rPr lang="en-US" sz="1200" b="1" dirty="0">
                <a:solidFill>
                  <a:srgbClr val="FEF3C7"/>
                </a:solidFill>
              </a:rPr>
              <a:t>1. Shattered Tablet</a:t>
            </a:r>
            <a:endParaRPr lang="en-US" sz="1200" dirty="0"/>
          </a:p>
        </p:txBody>
      </p:sp>
      <p:sp>
        <p:nvSpPr>
          <p:cNvPr id="15" name="Shape 13"/>
          <p:cNvSpPr/>
          <p:nvPr/>
        </p:nvSpPr>
        <p:spPr>
          <a:xfrm>
            <a:off x="6199632" y="5349240"/>
            <a:ext cx="2514600" cy="731520"/>
          </a:xfrm>
          <a:prstGeom prst="roundRect">
            <a:avLst>
              <a:gd name="adj" fmla="val 10000"/>
            </a:avLst>
          </a:prstGeom>
          <a:solidFill>
            <a:srgbClr val="141A2A"/>
          </a:solidFill>
          <a:ln w="19050">
            <a:solidFill>
              <a:srgbClr val="F59E0B"/>
            </a:solidFill>
            <a:prstDash val="solid"/>
          </a:ln>
        </p:spPr>
      </p:sp>
      <p:sp>
        <p:nvSpPr>
          <p:cNvPr id="16" name="Text 14"/>
          <p:cNvSpPr/>
          <p:nvPr/>
        </p:nvSpPr>
        <p:spPr>
          <a:xfrm>
            <a:off x="6291072" y="5486400"/>
            <a:ext cx="2331720" cy="457200"/>
          </a:xfrm>
          <a:prstGeom prst="rect">
            <a:avLst/>
          </a:prstGeom>
          <a:noFill/>
          <a:ln/>
        </p:spPr>
        <p:txBody>
          <a:bodyPr wrap="square" rtlCol="0" anchor="ctr"/>
          <a:lstStyle/>
          <a:p>
            <a:pPr algn="ctr" indent="0" marL="0">
              <a:buNone/>
            </a:pPr>
            <a:r>
              <a:rPr lang="en-US" sz="1200" b="1" dirty="0">
                <a:solidFill>
                  <a:srgbClr val="FEF3C7"/>
                </a:solidFill>
              </a:rPr>
              <a:t>2. Shades in Mist</a:t>
            </a:r>
            <a:endParaRPr lang="en-US" sz="1200" dirty="0"/>
          </a:p>
        </p:txBody>
      </p:sp>
      <p:sp>
        <p:nvSpPr>
          <p:cNvPr id="17" name="Shape 15"/>
          <p:cNvSpPr/>
          <p:nvPr/>
        </p:nvSpPr>
        <p:spPr>
          <a:xfrm>
            <a:off x="8933688" y="5349240"/>
            <a:ext cx="2514600" cy="731520"/>
          </a:xfrm>
          <a:prstGeom prst="roundRect">
            <a:avLst>
              <a:gd name="adj" fmla="val 10000"/>
            </a:avLst>
          </a:prstGeom>
          <a:solidFill>
            <a:srgbClr val="141A2A"/>
          </a:solidFill>
          <a:ln w="19050">
            <a:solidFill>
              <a:srgbClr val="F59E0B"/>
            </a:solidFill>
            <a:prstDash val="solid"/>
          </a:ln>
        </p:spPr>
      </p:sp>
      <p:sp>
        <p:nvSpPr>
          <p:cNvPr id="18" name="Text 16"/>
          <p:cNvSpPr/>
          <p:nvPr/>
        </p:nvSpPr>
        <p:spPr>
          <a:xfrm>
            <a:off x="9025128" y="5486400"/>
            <a:ext cx="2331720" cy="457200"/>
          </a:xfrm>
          <a:prstGeom prst="rect">
            <a:avLst/>
          </a:prstGeom>
          <a:noFill/>
          <a:ln/>
        </p:spPr>
        <p:txBody>
          <a:bodyPr wrap="square" rtlCol="0" anchor="ctr"/>
          <a:lstStyle/>
          <a:p>
            <a:pPr algn="ctr" indent="0" marL="0">
              <a:buNone/>
            </a:pPr>
            <a:r>
              <a:rPr lang="en-US" sz="1200" b="1" dirty="0">
                <a:solidFill>
                  <a:srgbClr val="FEF3C7"/>
                </a:solidFill>
              </a:rPr>
              <a:t>3. Styx Escape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731520" y="411480"/>
            <a:ext cx="7315200" cy="256032"/>
          </a:xfrm>
          <a:prstGeom prst="rect">
            <a:avLst/>
          </a:prstGeom>
          <a:noFill/>
          <a:ln/>
        </p:spPr>
        <p:txBody>
          <a:bodyPr wrap="square" rtlCol="0" anchor="ctr"/>
          <a:lstStyle/>
          <a:p>
            <a:pPr indent="0" marL="0">
              <a:buNone/>
            </a:pPr>
            <a:r>
              <a:rPr lang="en-US" sz="1000" b="1" spc="200" kern="0" dirty="0">
                <a:solidFill>
                  <a:srgbClr val="06B6D4"/>
                </a:solidFill>
              </a:rPr>
              <a:t>ROUND 1 • PHYSICAL COOPERATION PUZZLE</a:t>
            </a:r>
            <a:endParaRPr lang="en-US" sz="1000" dirty="0"/>
          </a:p>
        </p:txBody>
      </p:sp>
      <p:sp>
        <p:nvSpPr>
          <p:cNvPr id="3" name="Text 1"/>
          <p:cNvSpPr/>
          <p:nvPr/>
        </p:nvSpPr>
        <p:spPr>
          <a:xfrm>
            <a:off x="731520" y="658368"/>
            <a:ext cx="10725912" cy="502920"/>
          </a:xfrm>
          <a:prstGeom prst="rect">
            <a:avLst/>
          </a:prstGeom>
          <a:noFill/>
          <a:ln/>
        </p:spPr>
        <p:txBody>
          <a:bodyPr wrap="square" rtlCol="0" anchor="ctr"/>
          <a:lstStyle/>
          <a:p>
            <a:pPr indent="0" marL="0">
              <a:buNone/>
            </a:pPr>
            <a:r>
              <a:rPr lang="en-US" sz="2600" b="1" dirty="0">
                <a:solidFill>
                  <a:srgbClr val="FEF3C7"/>
                </a:solidFill>
              </a:rPr>
              <a:t>THE SHATTERED TABLET</a:t>
            </a:r>
            <a:endParaRPr lang="en-US" sz="2600" dirty="0"/>
          </a:p>
        </p:txBody>
      </p:sp>
      <p:sp>
        <p:nvSpPr>
          <p:cNvPr id="4" name="Text 2"/>
          <p:cNvSpPr/>
          <p:nvPr/>
        </p:nvSpPr>
        <p:spPr>
          <a:xfrm>
            <a:off x="731520" y="1170432"/>
            <a:ext cx="10725912" cy="292608"/>
          </a:xfrm>
          <a:prstGeom prst="rect">
            <a:avLst/>
          </a:prstGeom>
          <a:noFill/>
          <a:ln/>
        </p:spPr>
        <p:txBody>
          <a:bodyPr wrap="square" rtlCol="0" anchor="ctr"/>
          <a:lstStyle/>
          <a:p>
            <a:pPr indent="0" marL="0">
              <a:buNone/>
            </a:pPr>
            <a:r>
              <a:rPr lang="en-US" sz="1200" dirty="0">
                <a:solidFill>
                  <a:srgbClr val="94A3B8"/>
                </a:solidFill>
              </a:rPr>
              <a:t>Tomb Gate Alignment • Duration: ~5 Minutes</a:t>
            </a:r>
            <a:endParaRPr lang="en-US" sz="1200" dirty="0"/>
          </a:p>
        </p:txBody>
      </p:sp>
      <p:sp>
        <p:nvSpPr>
          <p:cNvPr id="5" name="Shape 3"/>
          <p:cNvSpPr/>
          <p:nvPr/>
        </p:nvSpPr>
        <p:spPr>
          <a:xfrm>
            <a:off x="731520" y="1572768"/>
            <a:ext cx="10725912" cy="594360"/>
          </a:xfrm>
          <a:prstGeom prst="rect">
            <a:avLst/>
          </a:prstGeom>
          <a:solidFill>
            <a:srgbClr val="182033"/>
          </a:solidFill>
          <a:ln w="19050">
            <a:solidFill>
              <a:srgbClr val="06B6D4"/>
            </a:solidFill>
            <a:prstDash val="solid"/>
          </a:ln>
        </p:spPr>
      </p:sp>
      <p:sp>
        <p:nvSpPr>
          <p:cNvPr id="6" name="Text 4"/>
          <p:cNvSpPr/>
          <p:nvPr/>
        </p:nvSpPr>
        <p:spPr>
          <a:xfrm>
            <a:off x="914400" y="1618488"/>
            <a:ext cx="10360152" cy="502920"/>
          </a:xfrm>
          <a:prstGeom prst="rect">
            <a:avLst/>
          </a:prstGeom>
          <a:noFill/>
          <a:ln/>
        </p:spPr>
        <p:txBody>
          <a:bodyPr wrap="square" rtlCol="0" anchor="ctr"/>
          <a:lstStyle/>
          <a:p>
            <a:pPr indent="0" marL="0">
              <a:buNone/>
            </a:pPr>
            <a:r>
              <a:rPr lang="en-US" sz="1100" i="1" dirty="0">
                <a:solidFill>
                  <a:srgbClr val="FEF3C7"/>
                </a:solidFill>
              </a:rPr>
              <a:t>🏛️ The Story: Walking through the dark expanse of Tartarus, your crew reaches a sealed ancient stone door. You need a codeword to pass. Pieces of a shattered ancient tablet lie on the ground before you.</a:t>
            </a:r>
            <a:endParaRPr lang="en-US" sz="1100" dirty="0"/>
          </a:p>
        </p:txBody>
      </p:sp>
      <p:sp>
        <p:nvSpPr>
          <p:cNvPr id="7" name="Shape 5"/>
          <p:cNvSpPr/>
          <p:nvPr/>
        </p:nvSpPr>
        <p:spPr>
          <a:xfrm>
            <a:off x="731520" y="2331720"/>
            <a:ext cx="5257800" cy="3794760"/>
          </a:xfrm>
          <a:prstGeom prst="roundRect">
            <a:avLst>
              <a:gd name="adj" fmla="val 1928"/>
            </a:avLst>
          </a:prstGeom>
          <a:solidFill>
            <a:srgbClr val="141A2A"/>
          </a:solidFill>
          <a:ln w="19050">
            <a:solidFill>
              <a:srgbClr val="06B6D4"/>
            </a:solidFill>
            <a:prstDash val="solid"/>
          </a:ln>
        </p:spPr>
      </p:sp>
      <p:sp>
        <p:nvSpPr>
          <p:cNvPr id="8" name="Text 6"/>
          <p:cNvSpPr/>
          <p:nvPr/>
        </p:nvSpPr>
        <p:spPr>
          <a:xfrm>
            <a:off x="960120" y="2514600"/>
            <a:ext cx="4800600" cy="365760"/>
          </a:xfrm>
          <a:prstGeom prst="rect">
            <a:avLst/>
          </a:prstGeom>
          <a:noFill/>
          <a:ln/>
        </p:spPr>
        <p:txBody>
          <a:bodyPr wrap="square" rtlCol="0" anchor="ctr"/>
          <a:lstStyle/>
          <a:p>
            <a:pPr indent="0" marL="0">
              <a:buNone/>
            </a:pPr>
            <a:r>
              <a:rPr lang="en-US" sz="1600" b="1" dirty="0">
                <a:solidFill>
                  <a:srgbClr val="FEF3C7"/>
                </a:solidFill>
              </a:rPr>
              <a:t>⚙️ Mechanics</a:t>
            </a:r>
            <a:endParaRPr lang="en-US" sz="1600" dirty="0"/>
          </a:p>
        </p:txBody>
      </p:sp>
      <p:sp>
        <p:nvSpPr>
          <p:cNvPr id="9" name="Text 7"/>
          <p:cNvSpPr/>
          <p:nvPr/>
        </p:nvSpPr>
        <p:spPr>
          <a:xfrm>
            <a:off x="960120" y="2971800"/>
            <a:ext cx="4800600" cy="2926080"/>
          </a:xfrm>
          <a:prstGeom prst="rect">
            <a:avLst/>
          </a:prstGeom>
          <a:noFill/>
          <a:ln/>
        </p:spPr>
        <p:txBody>
          <a:bodyPr wrap="square" rtlCol="0" anchor="ctr"/>
          <a:lstStyle/>
          <a:p>
            <a:pPr indent="0" marL="0">
              <a:lnSpc>
                <a:spcPct val="115000"/>
              </a:lnSpc>
              <a:buNone/>
            </a:pPr>
            <a:r>
              <a:rPr lang="en-US" sz="1150" b="1" dirty="0">
                <a:solidFill>
                  <a:srgbClr val="E2E8F0"/>
                </a:solidFill>
              </a:rPr>
              <a:t>• 5 Slices on 5 Phones: </a:t>
            </a:r>
            <a:pPr indent="0" marL="0">
              <a:lnSpc>
                <a:spcPct val="115000"/>
              </a:lnSpc>
              <a:buNone/>
            </a:pPr>
            <a:r>
              <a:rPr lang="en-US" sz="1150" dirty="0">
                <a:solidFill>
                  <a:srgbClr val="94A3B8"/>
                </a:solidFill>
              </a:rPr>
              <a:t>The tablet is split into 5 vertical slices distributed across the crew's phones (#1 to #5).
</a:t>
            </a:r>
            <a:pPr indent="0" marL="0">
              <a:lnSpc>
                <a:spcPct val="115000"/>
              </a:lnSpc>
              <a:buNone/>
            </a:pPr>
            <a:r>
              <a:rPr lang="en-US" sz="1150" b="1" dirty="0">
                <a:solidFill>
                  <a:srgbClr val="E2E8F0"/>
                </a:solidFill>
              </a:rPr>
              <a:t>• Physical Phone Order: </a:t>
            </a:r>
            <a:pPr indent="0" marL="0">
              <a:lnSpc>
                <a:spcPct val="115000"/>
              </a:lnSpc>
              <a:buNone/>
            </a:pPr>
            <a:r>
              <a:rPr lang="en-US" sz="1150" dirty="0">
                <a:solidFill>
                  <a:srgbClr val="94A3B8"/>
                </a:solidFill>
              </a:rPr>
              <a:t>Players physically place their 5 phones side-by-side in numerical order (#1 to #5) across the table.
</a:t>
            </a:r>
            <a:pPr indent="0" marL="0">
              <a:lnSpc>
                <a:spcPct val="115000"/>
              </a:lnSpc>
              <a:buNone/>
            </a:pPr>
            <a:r>
              <a:rPr lang="en-US" sz="1150" b="1" dirty="0">
                <a:solidFill>
                  <a:srgbClr val="E2E8F0"/>
                </a:solidFill>
              </a:rPr>
              <a:t>• The Codeword: </a:t>
            </a:r>
            <a:pPr indent="0" marL="0">
              <a:lnSpc>
                <a:spcPct val="115000"/>
              </a:lnSpc>
              <a:buNone/>
            </a:pPr>
            <a:r>
              <a:rPr lang="en-US" sz="1150" dirty="0">
                <a:solidFill>
                  <a:srgbClr val="F59E0B"/>
                </a:solidFill>
              </a:rPr>
              <a:t>Golden carved fracture lines connect across phone borders to reveal a 2-word codeword (e.g. CRIMSON SHADOW).
</a:t>
            </a:r>
            <a:pPr indent="0" marL="0">
              <a:lnSpc>
                <a:spcPct val="115000"/>
              </a:lnSpc>
              <a:buNone/>
            </a:pPr>
            <a:r>
              <a:rPr lang="en-US" sz="1150" b="1" dirty="0">
                <a:solidFill>
                  <a:srgbClr val="E2E8F0"/>
                </a:solidFill>
              </a:rPr>
              <a:t>• Team Submission: </a:t>
            </a:r>
            <a:pPr indent="0" marL="0">
              <a:lnSpc>
                <a:spcPct val="115000"/>
              </a:lnSpc>
              <a:buNone/>
            </a:pPr>
            <a:r>
              <a:rPr lang="en-US" sz="1150" dirty="0">
                <a:solidFill>
                  <a:srgbClr val="E2E8F0"/>
                </a:solidFill>
              </a:rPr>
              <a:t>Any player in the crew can type and submit the answer on their screen.</a:t>
            </a:r>
            <a:endParaRPr lang="en-US" sz="1150" dirty="0"/>
          </a:p>
        </p:txBody>
      </p:sp>
      <p:sp>
        <p:nvSpPr>
          <p:cNvPr id="10" name="Shape 8"/>
          <p:cNvSpPr/>
          <p:nvPr/>
        </p:nvSpPr>
        <p:spPr>
          <a:xfrm>
            <a:off x="6199632" y="2331720"/>
            <a:ext cx="5257800" cy="3794760"/>
          </a:xfrm>
          <a:prstGeom prst="roundRect">
            <a:avLst>
              <a:gd name="adj" fmla="val 1928"/>
            </a:avLst>
          </a:prstGeom>
          <a:solidFill>
            <a:srgbClr val="141A2A"/>
          </a:solidFill>
          <a:ln w="12700">
            <a:solidFill>
              <a:srgbClr val="334155"/>
            </a:solidFill>
            <a:prstDash val="solid"/>
          </a:ln>
        </p:spPr>
      </p:sp>
      <p:sp>
        <p:nvSpPr>
          <p:cNvPr id="11" name="Text 9"/>
          <p:cNvSpPr/>
          <p:nvPr/>
        </p:nvSpPr>
        <p:spPr>
          <a:xfrm>
            <a:off x="6428232" y="2514600"/>
            <a:ext cx="4800600" cy="365760"/>
          </a:xfrm>
          <a:prstGeom prst="rect">
            <a:avLst/>
          </a:prstGeom>
          <a:noFill/>
          <a:ln/>
        </p:spPr>
        <p:txBody>
          <a:bodyPr wrap="square" rtlCol="0" anchor="ctr"/>
          <a:lstStyle/>
          <a:p>
            <a:pPr indent="0" marL="0">
              <a:buNone/>
            </a:pPr>
            <a:r>
              <a:rPr lang="en-US" sz="1600" b="1" dirty="0">
                <a:solidFill>
                  <a:srgbClr val="FEF3C7"/>
                </a:solidFill>
              </a:rPr>
              <a:t>🏆 Points &amp; Winning Conditions</a:t>
            </a:r>
            <a:endParaRPr lang="en-US" sz="1600" dirty="0"/>
          </a:p>
        </p:txBody>
      </p:sp>
      <p:sp>
        <p:nvSpPr>
          <p:cNvPr id="12" name="Text 10"/>
          <p:cNvSpPr/>
          <p:nvPr/>
        </p:nvSpPr>
        <p:spPr>
          <a:xfrm>
            <a:off x="6428232" y="2971800"/>
            <a:ext cx="4800600" cy="2926080"/>
          </a:xfrm>
          <a:prstGeom prst="rect">
            <a:avLst/>
          </a:prstGeom>
          <a:noFill/>
          <a:ln/>
        </p:spPr>
        <p:txBody>
          <a:bodyPr wrap="square" rtlCol="0" anchor="ctr"/>
          <a:lstStyle/>
          <a:p>
            <a:pPr indent="0" marL="0">
              <a:lnSpc>
                <a:spcPct val="115000"/>
              </a:lnSpc>
              <a:buNone/>
            </a:pPr>
            <a:r>
              <a:rPr lang="en-US" sz="1150" b="1" dirty="0">
                <a:solidFill>
                  <a:srgbClr val="E2E8F0"/>
                </a:solidFill>
              </a:rPr>
              <a:t>• Speed is Rewarded: </a:t>
            </a:r>
            <a:pPr indent="0" marL="0">
              <a:lnSpc>
                <a:spcPct val="115000"/>
              </a:lnSpc>
              <a:buNone/>
            </a:pPr>
            <a:r>
              <a:rPr lang="en-US" sz="1150" dirty="0">
                <a:solidFill>
                  <a:srgbClr val="94A3B8"/>
                </a:solidFill>
              </a:rPr>
              <a:t>Faster team solves earn higher base points (Legendary → Swift → Steady).
</a:t>
            </a:r>
            <a:pPr indent="0" marL="0">
              <a:lnSpc>
                <a:spcPct val="115000"/>
              </a:lnSpc>
              <a:buNone/>
            </a:pPr>
            <a:r>
              <a:rPr lang="en-US" sz="1150" b="1" dirty="0">
                <a:solidFill>
                  <a:srgbClr val="E2E8F0"/>
                </a:solidFill>
              </a:rPr>
              <a:t>• Guaranteed Safety Floor: </a:t>
            </a:r>
            <a:pPr indent="0" marL="0">
              <a:lnSpc>
                <a:spcPct val="115000"/>
              </a:lnSpc>
              <a:buNone/>
            </a:pPr>
            <a:r>
              <a:rPr lang="en-US" sz="1150" dirty="0">
                <a:solidFill>
                  <a:srgbClr val="10B981"/>
                </a:solidFill>
              </a:rPr>
              <a:t>A 50 PTS minimum floor ensures every crew passes through the tomb gate.
</a:t>
            </a:r>
            <a:pPr indent="0" marL="0">
              <a:lnSpc>
                <a:spcPct val="115000"/>
              </a:lnSpc>
              <a:buNone/>
            </a:pPr>
            <a:r>
              <a:rPr lang="en-US" sz="1150" b="1" dirty="0">
                <a:solidFill>
                  <a:srgbClr val="E2E8F0"/>
                </a:solidFill>
              </a:rPr>
              <a:t>• Round Completion: </a:t>
            </a:r>
            <a:pPr indent="0" marL="0">
              <a:lnSpc>
                <a:spcPct val="115000"/>
              </a:lnSpc>
              <a:buNone/>
            </a:pPr>
            <a:r>
              <a:rPr lang="en-US" sz="1150" dirty="0">
                <a:solidFill>
                  <a:srgbClr val="94A3B8"/>
                </a:solidFill>
              </a:rPr>
              <a:t>The round ends when all crews submit the code or the timer concludes.
</a:t>
            </a:r>
            <a:pPr indent="0" marL="0">
              <a:lnSpc>
                <a:spcPct val="115000"/>
              </a:lnSpc>
              <a:buNone/>
            </a:pPr>
            <a:r>
              <a:rPr lang="en-US" sz="1150" b="1" dirty="0">
                <a:solidFill>
                  <a:srgbClr val="F59E0B"/>
                </a:solidFill>
              </a:rPr>
              <a:t>💡 Facilitator Prompt: </a:t>
            </a:r>
            <a:pPr indent="0" marL="0">
              <a:lnSpc>
                <a:spcPct val="115000"/>
              </a:lnSpc>
              <a:buNone/>
            </a:pPr>
            <a:r>
              <a:rPr lang="en-US" sz="1150" dirty="0">
                <a:solidFill>
                  <a:srgbClr val="FEF3C7"/>
                </a:solidFill>
              </a:rPr>
              <a:t>"Don't stay seated staring at your own screen—stand up, place your 5 phones in order 1 to 5, and read the tablet together!"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731520" y="411480"/>
            <a:ext cx="7315200" cy="256032"/>
          </a:xfrm>
          <a:prstGeom prst="rect">
            <a:avLst/>
          </a:prstGeom>
          <a:noFill/>
          <a:ln/>
        </p:spPr>
        <p:txBody>
          <a:bodyPr wrap="square" rtlCol="0" anchor="ctr"/>
          <a:lstStyle/>
          <a:p>
            <a:pPr indent="0" marL="0">
              <a:buNone/>
            </a:pPr>
            <a:r>
              <a:rPr lang="en-US" sz="1000" b="1" spc="200" kern="0" dirty="0">
                <a:solidFill>
                  <a:srgbClr val="F43F5E"/>
                </a:solidFill>
              </a:rPr>
              <a:t>ROUND 2 • PRISONER'S DILEMMA</a:t>
            </a:r>
            <a:endParaRPr lang="en-US" sz="1000" dirty="0"/>
          </a:p>
        </p:txBody>
      </p:sp>
      <p:sp>
        <p:nvSpPr>
          <p:cNvPr id="3" name="Text 1"/>
          <p:cNvSpPr/>
          <p:nvPr/>
        </p:nvSpPr>
        <p:spPr>
          <a:xfrm>
            <a:off x="731520" y="658368"/>
            <a:ext cx="10725912" cy="502920"/>
          </a:xfrm>
          <a:prstGeom prst="rect">
            <a:avLst/>
          </a:prstGeom>
          <a:noFill/>
          <a:ln/>
        </p:spPr>
        <p:txBody>
          <a:bodyPr wrap="square" rtlCol="0" anchor="ctr"/>
          <a:lstStyle/>
          <a:p>
            <a:pPr indent="0" marL="0">
              <a:buNone/>
            </a:pPr>
            <a:r>
              <a:rPr lang="en-US" sz="2600" b="1" dirty="0">
                <a:solidFill>
                  <a:srgbClr val="FEF3C7"/>
                </a:solidFill>
              </a:rPr>
              <a:t>SHADES IN THE MIST</a:t>
            </a:r>
            <a:endParaRPr lang="en-US" sz="2600" dirty="0"/>
          </a:p>
        </p:txBody>
      </p:sp>
      <p:sp>
        <p:nvSpPr>
          <p:cNvPr id="4" name="Text 2"/>
          <p:cNvSpPr/>
          <p:nvPr/>
        </p:nvSpPr>
        <p:spPr>
          <a:xfrm>
            <a:off x="731520" y="1170432"/>
            <a:ext cx="10725912" cy="292608"/>
          </a:xfrm>
          <a:prstGeom prst="rect">
            <a:avLst/>
          </a:prstGeom>
          <a:noFill/>
          <a:ln/>
        </p:spPr>
        <p:txBody>
          <a:bodyPr wrap="square" rtlCol="0" anchor="ctr"/>
          <a:lstStyle/>
          <a:p>
            <a:pPr indent="0" marL="0">
              <a:buNone/>
            </a:pPr>
            <a:r>
              <a:rPr lang="en-US" sz="1200" dirty="0">
                <a:solidFill>
                  <a:srgbClr val="94A3B8"/>
                </a:solidFill>
              </a:rPr>
              <a:t>Prisoner's Dilemma • 3 Clashes • Face-to-Face Negotiation</a:t>
            </a:r>
            <a:endParaRPr lang="en-US" sz="1200" dirty="0"/>
          </a:p>
        </p:txBody>
      </p:sp>
      <p:sp>
        <p:nvSpPr>
          <p:cNvPr id="5" name="Shape 3"/>
          <p:cNvSpPr/>
          <p:nvPr/>
        </p:nvSpPr>
        <p:spPr>
          <a:xfrm>
            <a:off x="731520" y="1572768"/>
            <a:ext cx="10725912" cy="594360"/>
          </a:xfrm>
          <a:prstGeom prst="rect">
            <a:avLst/>
          </a:prstGeom>
          <a:solidFill>
            <a:srgbClr val="182033"/>
          </a:solidFill>
          <a:ln w="19050">
            <a:solidFill>
              <a:srgbClr val="F43F5E"/>
            </a:solidFill>
            <a:prstDash val="solid"/>
          </a:ln>
        </p:spPr>
      </p:sp>
      <p:sp>
        <p:nvSpPr>
          <p:cNvPr id="6" name="Text 4"/>
          <p:cNvSpPr/>
          <p:nvPr/>
        </p:nvSpPr>
        <p:spPr>
          <a:xfrm>
            <a:off x="914400" y="1618488"/>
            <a:ext cx="10360152" cy="502920"/>
          </a:xfrm>
          <a:prstGeom prst="rect">
            <a:avLst/>
          </a:prstGeom>
          <a:noFill/>
          <a:ln/>
        </p:spPr>
        <p:txBody>
          <a:bodyPr wrap="square" rtlCol="0" anchor="ctr"/>
          <a:lstStyle/>
          <a:p>
            <a:pPr indent="0" marL="0">
              <a:buNone/>
            </a:pPr>
            <a:r>
              <a:rPr lang="en-US" sz="1100" i="1" dirty="0">
                <a:solidFill>
                  <a:srgbClr val="FEF3C7"/>
                </a:solidFill>
              </a:rPr>
              <a:t>🏛️ The Story: You escape through the tomb door into a vast cavern hall as thick Stygian mist rolls in. Another crew of shades emerges from the shadows. Are they trustworthy friends or treacherous enemies?</a:t>
            </a:r>
            <a:endParaRPr lang="en-US" sz="1100" dirty="0"/>
          </a:p>
        </p:txBody>
      </p:sp>
      <p:sp>
        <p:nvSpPr>
          <p:cNvPr id="7" name="Shape 5"/>
          <p:cNvSpPr/>
          <p:nvPr/>
        </p:nvSpPr>
        <p:spPr>
          <a:xfrm>
            <a:off x="731520" y="2331720"/>
            <a:ext cx="5257800" cy="3794760"/>
          </a:xfrm>
          <a:prstGeom prst="roundRect">
            <a:avLst>
              <a:gd name="adj" fmla="val 1928"/>
            </a:avLst>
          </a:prstGeom>
          <a:solidFill>
            <a:srgbClr val="141A2A"/>
          </a:solidFill>
          <a:ln w="19050">
            <a:solidFill>
              <a:srgbClr val="F43F5E"/>
            </a:solidFill>
            <a:prstDash val="solid"/>
          </a:ln>
        </p:spPr>
      </p:sp>
      <p:sp>
        <p:nvSpPr>
          <p:cNvPr id="8" name="Text 6"/>
          <p:cNvSpPr/>
          <p:nvPr/>
        </p:nvSpPr>
        <p:spPr>
          <a:xfrm>
            <a:off x="960120" y="2514600"/>
            <a:ext cx="4800600" cy="365760"/>
          </a:xfrm>
          <a:prstGeom prst="rect">
            <a:avLst/>
          </a:prstGeom>
          <a:noFill/>
          <a:ln/>
        </p:spPr>
        <p:txBody>
          <a:bodyPr wrap="square" rtlCol="0" anchor="ctr"/>
          <a:lstStyle/>
          <a:p>
            <a:pPr indent="0" marL="0">
              <a:buNone/>
            </a:pPr>
            <a:r>
              <a:rPr lang="en-US" sz="1600" b="1" dirty="0">
                <a:solidFill>
                  <a:srgbClr val="FEF3C7"/>
                </a:solidFill>
              </a:rPr>
              <a:t>⚙️ Mechanics (Each Clash)</a:t>
            </a:r>
            <a:endParaRPr lang="en-US" sz="1600" dirty="0"/>
          </a:p>
        </p:txBody>
      </p:sp>
      <p:sp>
        <p:nvSpPr>
          <p:cNvPr id="9" name="Text 7"/>
          <p:cNvSpPr/>
          <p:nvPr/>
        </p:nvSpPr>
        <p:spPr>
          <a:xfrm>
            <a:off x="960120" y="2971800"/>
            <a:ext cx="4800600" cy="2926080"/>
          </a:xfrm>
          <a:prstGeom prst="rect">
            <a:avLst/>
          </a:prstGeom>
          <a:noFill/>
          <a:ln/>
        </p:spPr>
        <p:txBody>
          <a:bodyPr wrap="square" rtlCol="0" anchor="ctr"/>
          <a:lstStyle/>
          <a:p>
            <a:pPr indent="0" marL="0">
              <a:lnSpc>
                <a:spcPct val="115000"/>
              </a:lnSpc>
              <a:buNone/>
            </a:pPr>
            <a:r>
              <a:rPr lang="en-US" sz="1100" dirty="0">
                <a:solidFill>
                  <a:srgbClr val="94A3B8"/>
                </a:solidFill>
              </a:rPr>
              <a:t>Your crew faces a rival table across 3 escalating clashes:
</a:t>
            </a:r>
            <a:pPr indent="0" marL="0">
              <a:lnSpc>
                <a:spcPct val="115000"/>
              </a:lnSpc>
              <a:buNone/>
            </a:pPr>
            <a:r>
              <a:rPr lang="en-US" sz="1100" b="1" dirty="0">
                <a:solidFill>
                  <a:srgbClr val="E2E8F0"/>
                </a:solidFill>
              </a:rPr>
              <a:t>1. Private Huddle (50s): </a:t>
            </a:r>
            <a:pPr indent="0" marL="0">
              <a:lnSpc>
                <a:spcPct val="115000"/>
              </a:lnSpc>
              <a:buNone/>
            </a:pPr>
            <a:r>
              <a:rPr lang="en-US" sz="1100" dirty="0">
                <a:solidFill>
                  <a:srgbClr val="94A3B8"/>
                </a:solidFill>
              </a:rPr>
              <a:t>Whisper at your table. Decide your true stance: Truce or Ambush?
</a:t>
            </a:r>
            <a:pPr indent="0" marL="0">
              <a:lnSpc>
                <a:spcPct val="115000"/>
              </a:lnSpc>
              <a:buNone/>
            </a:pPr>
            <a:r>
              <a:rPr lang="en-US" sz="1100" b="1" dirty="0">
                <a:solidFill>
                  <a:srgbClr val="E2E8F0"/>
                </a:solidFill>
              </a:rPr>
              <a:t>2. The Dialogue (40s): </a:t>
            </a:r>
            <a:pPr indent="0" marL="0">
              <a:lnSpc>
                <a:spcPct val="115000"/>
              </a:lnSpc>
              <a:buNone/>
            </a:pPr>
            <a:r>
              <a:rPr lang="en-US" sz="1100" dirty="0">
                <a:solidFill>
                  <a:srgbClr val="94A3B8"/>
                </a:solidFill>
              </a:rPr>
              <a:t>Talk with the other team across the room (bluffing is 100% permitted!).
</a:t>
            </a:r>
            <a:pPr indent="0" marL="0">
              <a:lnSpc>
                <a:spcPct val="115000"/>
              </a:lnSpc>
              <a:buNone/>
            </a:pPr>
            <a:r>
              <a:rPr lang="en-US" sz="1100" b="1" dirty="0">
                <a:solidFill>
                  <a:srgbClr val="E2E8F0"/>
                </a:solidFill>
              </a:rPr>
              <a:t>3. Secret Blind Vote (25s): </a:t>
            </a:r>
            <a:pPr indent="0" marL="0">
              <a:lnSpc>
                <a:spcPct val="115000"/>
              </a:lnSpc>
              <a:buNone/>
            </a:pPr>
            <a:r>
              <a:rPr lang="en-US" sz="1100" dirty="0">
                <a:solidFill>
                  <a:srgbClr val="94A3B8"/>
                </a:solidFill>
              </a:rPr>
              <a:t>Every player secretly votes on phone. Majority rules (Negotiator breaks ties).
</a:t>
            </a:r>
            <a:pPr indent="0" marL="0">
              <a:lnSpc>
                <a:spcPct val="115000"/>
              </a:lnSpc>
              <a:buNone/>
            </a:pPr>
            <a:r>
              <a:rPr lang="en-US" sz="1100" b="1" dirty="0">
                <a:solidFill>
                  <a:srgbClr val="E2E8F0"/>
                </a:solidFill>
              </a:rPr>
              <a:t>4. The Reveal (40s): </a:t>
            </a:r>
            <a:pPr indent="0" marL="0">
              <a:lnSpc>
                <a:spcPct val="115000"/>
              </a:lnSpc>
              <a:buNone/>
            </a:pPr>
            <a:r>
              <a:rPr lang="en-US" sz="1100" dirty="0">
                <a:solidFill>
                  <a:srgbClr val="F59E0B"/>
                </a:solidFill>
              </a:rPr>
              <a:t>Both tables' choices unmask simultaneously on screen!</a:t>
            </a:r>
            <a:endParaRPr lang="en-US" sz="1100" dirty="0"/>
          </a:p>
        </p:txBody>
      </p:sp>
      <p:sp>
        <p:nvSpPr>
          <p:cNvPr id="10" name="Shape 8"/>
          <p:cNvSpPr/>
          <p:nvPr/>
        </p:nvSpPr>
        <p:spPr>
          <a:xfrm>
            <a:off x="6199632" y="2331720"/>
            <a:ext cx="5257800" cy="3794760"/>
          </a:xfrm>
          <a:prstGeom prst="roundRect">
            <a:avLst>
              <a:gd name="adj" fmla="val 1928"/>
            </a:avLst>
          </a:prstGeom>
          <a:solidFill>
            <a:srgbClr val="141A2A"/>
          </a:solidFill>
          <a:ln w="12700">
            <a:solidFill>
              <a:srgbClr val="334155"/>
            </a:solidFill>
            <a:prstDash val="solid"/>
          </a:ln>
        </p:spPr>
      </p:sp>
      <p:sp>
        <p:nvSpPr>
          <p:cNvPr id="11" name="Text 9"/>
          <p:cNvSpPr/>
          <p:nvPr/>
        </p:nvSpPr>
        <p:spPr>
          <a:xfrm>
            <a:off x="6428232" y="2514600"/>
            <a:ext cx="4800600" cy="365760"/>
          </a:xfrm>
          <a:prstGeom prst="rect">
            <a:avLst/>
          </a:prstGeom>
          <a:noFill/>
          <a:ln/>
        </p:spPr>
        <p:txBody>
          <a:bodyPr wrap="square" rtlCol="0" anchor="ctr"/>
          <a:lstStyle/>
          <a:p>
            <a:pPr indent="0" marL="0">
              <a:buNone/>
            </a:pPr>
            <a:r>
              <a:rPr lang="en-US" sz="1600" b="1" dirty="0">
                <a:solidFill>
                  <a:srgbClr val="FEF3C7"/>
                </a:solidFill>
              </a:rPr>
              <a:t>🏆 Points Difference</a:t>
            </a:r>
            <a:endParaRPr lang="en-US" sz="1600" dirty="0"/>
          </a:p>
        </p:txBody>
      </p:sp>
      <p:sp>
        <p:nvSpPr>
          <p:cNvPr id="12" name="Text 10"/>
          <p:cNvSpPr/>
          <p:nvPr/>
        </p:nvSpPr>
        <p:spPr>
          <a:xfrm>
            <a:off x="6428232" y="2971800"/>
            <a:ext cx="4800600" cy="2926080"/>
          </a:xfrm>
          <a:prstGeom prst="rect">
            <a:avLst/>
          </a:prstGeom>
          <a:noFill/>
          <a:ln/>
        </p:spPr>
        <p:txBody>
          <a:bodyPr wrap="square" rtlCol="0" anchor="ctr"/>
          <a:lstStyle/>
          <a:p>
            <a:pPr indent="0" marL="0">
              <a:lnSpc>
                <a:spcPct val="115000"/>
              </a:lnSpc>
              <a:buNone/>
            </a:pPr>
            <a:r>
              <a:rPr lang="en-US" sz="1100" b="1" dirty="0">
                <a:solidFill>
                  <a:srgbClr val="F59E0B"/>
                </a:solidFill>
              </a:rPr>
              <a:t>Points Outcomes (Stakes DOUBLE in Clash 2, TRIPLE in Clash 3!):
</a:t>
            </a:r>
            <a:pPr indent="0" marL="0">
              <a:lnSpc>
                <a:spcPct val="115000"/>
              </a:lnSpc>
              <a:buNone/>
            </a:pPr>
            <a:r>
              <a:rPr lang="en-US" sz="1100" b="1" dirty="0">
                <a:solidFill>
                  <a:srgbClr val="10B981"/>
                </a:solidFill>
              </a:rPr>
              <a:t>🤝 Mutual Truce (Cooperation):
</a:t>
            </a:r>
            <a:pPr indent="0" marL="0">
              <a:lnSpc>
                <a:spcPct val="115000"/>
              </a:lnSpc>
              <a:buNone/>
            </a:pPr>
            <a:r>
              <a:rPr lang="en-US" sz="1100" dirty="0">
                <a:solidFill>
                  <a:srgbClr val="94A3B8"/>
                </a:solidFill>
              </a:rPr>
              <a:t>Both teams play peaceful → Both win solid, steady points (+75 / +150 / +225 PTS).
</a:t>
            </a:r>
            <a:pPr indent="0" marL="0">
              <a:lnSpc>
                <a:spcPct val="115000"/>
              </a:lnSpc>
              <a:buNone/>
            </a:pPr>
            <a:r>
              <a:rPr lang="en-US" sz="1100" b="1" dirty="0">
                <a:solidFill>
                  <a:srgbClr val="F43F5E"/>
                </a:solidFill>
              </a:rPr>
              <a:t>🗡️ The Backstab (Betrayal):
</a:t>
            </a:r>
            <a:pPr indent="0" marL="0">
              <a:lnSpc>
                <a:spcPct val="115000"/>
              </a:lnSpc>
              <a:buNone/>
            </a:pPr>
            <a:r>
              <a:rPr lang="en-US" sz="1100" dirty="0">
                <a:solidFill>
                  <a:srgbClr val="94A3B8"/>
                </a:solidFill>
              </a:rPr>
              <a:t>Ambush beats Truce → Betrayer steals maximum points (+150 / +300 / +450 PTS); peaceful victim gets 0 PTS!
</a:t>
            </a:r>
            <a:pPr indent="0" marL="0">
              <a:lnSpc>
                <a:spcPct val="115000"/>
              </a:lnSpc>
              <a:buNone/>
            </a:pPr>
            <a:r>
              <a:rPr lang="en-US" sz="1100" b="1" dirty="0">
                <a:solidFill>
                  <a:srgbClr val="F59E0B"/>
                </a:solidFill>
              </a:rPr>
              <a:t>💥 Mutual Brawl (Conflict):
</a:t>
            </a:r>
            <a:pPr indent="0" marL="0">
              <a:lnSpc>
                <a:spcPct val="115000"/>
              </a:lnSpc>
              <a:buNone/>
            </a:pPr>
            <a:r>
              <a:rPr lang="en-US" sz="1100" dirty="0">
                <a:solidFill>
                  <a:srgbClr val="94A3B8"/>
                </a:solidFill>
              </a:rPr>
              <a:t>Both teams attack → Both walk away with scraps (+15 / +30 / +45 PTS).
</a:t>
            </a:r>
            <a:pPr indent="0" marL="0">
              <a:lnSpc>
                <a:spcPct val="115000"/>
              </a:lnSpc>
              <a:buNone/>
            </a:pPr>
            <a:r>
              <a:rPr lang="en-US" sz="1100" i="1" dirty="0">
                <a:solidFill>
                  <a:srgbClr val="FEF3C7"/>
                </a:solidFill>
              </a:rPr>
              <a:t>⚠️ Key Tension: Promises across the room are non-binding. Will you build trust or cash in on a backstab?</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731520" y="411480"/>
            <a:ext cx="7315200" cy="256032"/>
          </a:xfrm>
          <a:prstGeom prst="rect">
            <a:avLst/>
          </a:prstGeom>
          <a:noFill/>
          <a:ln/>
        </p:spPr>
        <p:txBody>
          <a:bodyPr wrap="square" rtlCol="0" anchor="ctr"/>
          <a:lstStyle/>
          <a:p>
            <a:pPr indent="0" marL="0">
              <a:buNone/>
            </a:pPr>
            <a:r>
              <a:rPr lang="en-US" sz="1000" b="1" spc="200" kern="0" dirty="0">
                <a:solidFill>
                  <a:srgbClr val="A855F7"/>
                </a:solidFill>
              </a:rPr>
              <a:t>ROUND 3 • ESCAPE ROYALE</a:t>
            </a:r>
            <a:endParaRPr lang="en-US" sz="1000" dirty="0"/>
          </a:p>
        </p:txBody>
      </p:sp>
      <p:sp>
        <p:nvSpPr>
          <p:cNvPr id="3" name="Text 1"/>
          <p:cNvSpPr/>
          <p:nvPr/>
        </p:nvSpPr>
        <p:spPr>
          <a:xfrm>
            <a:off x="731520" y="658368"/>
            <a:ext cx="10725912" cy="502920"/>
          </a:xfrm>
          <a:prstGeom prst="rect">
            <a:avLst/>
          </a:prstGeom>
          <a:noFill/>
          <a:ln/>
        </p:spPr>
        <p:txBody>
          <a:bodyPr wrap="square" rtlCol="0" anchor="ctr"/>
          <a:lstStyle/>
          <a:p>
            <a:pPr indent="0" marL="0">
              <a:buNone/>
            </a:pPr>
            <a:r>
              <a:rPr lang="en-US" sz="2600" b="1" dirty="0">
                <a:solidFill>
                  <a:srgbClr val="FEF3C7"/>
                </a:solidFill>
              </a:rPr>
              <a:t>ESCAPE FROM TARTARUS</a:t>
            </a:r>
            <a:endParaRPr lang="en-US" sz="2600" dirty="0"/>
          </a:p>
        </p:txBody>
      </p:sp>
      <p:sp>
        <p:nvSpPr>
          <p:cNvPr id="4" name="Text 2"/>
          <p:cNvSpPr/>
          <p:nvPr/>
        </p:nvSpPr>
        <p:spPr>
          <a:xfrm>
            <a:off x="731520" y="1170432"/>
            <a:ext cx="10725912" cy="292608"/>
          </a:xfrm>
          <a:prstGeom prst="rect">
            <a:avLst/>
          </a:prstGeom>
          <a:noFill/>
          <a:ln/>
        </p:spPr>
        <p:txBody>
          <a:bodyPr wrap="square" rtlCol="0" anchor="ctr"/>
          <a:lstStyle/>
          <a:p>
            <a:pPr indent="0" marL="0">
              <a:buNone/>
            </a:pPr>
            <a:r>
              <a:rPr lang="en-US" sz="1200" dirty="0">
                <a:solidFill>
                  <a:srgbClr val="94A3B8"/>
                </a:solidFill>
              </a:rPr>
              <a:t>River Styx Congestion Race • 1,000m to the Exit Portal</a:t>
            </a:r>
            <a:endParaRPr lang="en-US" sz="1200" dirty="0"/>
          </a:p>
        </p:txBody>
      </p:sp>
      <p:sp>
        <p:nvSpPr>
          <p:cNvPr id="5" name="Shape 3"/>
          <p:cNvSpPr/>
          <p:nvPr/>
        </p:nvSpPr>
        <p:spPr>
          <a:xfrm>
            <a:off x="731520" y="1572768"/>
            <a:ext cx="10725912" cy="594360"/>
          </a:xfrm>
          <a:prstGeom prst="rect">
            <a:avLst/>
          </a:prstGeom>
          <a:solidFill>
            <a:srgbClr val="182033"/>
          </a:solidFill>
          <a:ln w="19050">
            <a:solidFill>
              <a:srgbClr val="A855F7"/>
            </a:solidFill>
            <a:prstDash val="solid"/>
          </a:ln>
        </p:spPr>
      </p:sp>
      <p:sp>
        <p:nvSpPr>
          <p:cNvPr id="6" name="Text 4"/>
          <p:cNvSpPr/>
          <p:nvPr/>
        </p:nvSpPr>
        <p:spPr>
          <a:xfrm>
            <a:off x="914400" y="1618488"/>
            <a:ext cx="10360152" cy="502920"/>
          </a:xfrm>
          <a:prstGeom prst="rect">
            <a:avLst/>
          </a:prstGeom>
          <a:noFill/>
          <a:ln/>
        </p:spPr>
        <p:txBody>
          <a:bodyPr wrap="square" rtlCol="0" anchor="ctr"/>
          <a:lstStyle/>
          <a:p>
            <a:pPr indent="0" marL="0">
              <a:buNone/>
            </a:pPr>
            <a:r>
              <a:rPr lang="en-US" sz="1100" i="1" dirty="0">
                <a:solidFill>
                  <a:srgbClr val="FEF3C7"/>
                </a:solidFill>
              </a:rPr>
              <a:t>🏛️ The Story: Cerberus is howling in the shadows behind you, and the exit portal across the wide River Styx is slowly starting to close. Can your crew reach the portal before it seals forever?</a:t>
            </a:r>
            <a:endParaRPr lang="en-US" sz="1100" dirty="0"/>
          </a:p>
        </p:txBody>
      </p:sp>
      <p:sp>
        <p:nvSpPr>
          <p:cNvPr id="7" name="Shape 5"/>
          <p:cNvSpPr/>
          <p:nvPr/>
        </p:nvSpPr>
        <p:spPr>
          <a:xfrm>
            <a:off x="731520" y="2331720"/>
            <a:ext cx="5257800" cy="3794760"/>
          </a:xfrm>
          <a:prstGeom prst="roundRect">
            <a:avLst>
              <a:gd name="adj" fmla="val 1928"/>
            </a:avLst>
          </a:prstGeom>
          <a:solidFill>
            <a:srgbClr val="141A2A"/>
          </a:solidFill>
          <a:ln w="19050">
            <a:solidFill>
              <a:srgbClr val="A855F7"/>
            </a:solidFill>
            <a:prstDash val="solid"/>
          </a:ln>
        </p:spPr>
      </p:sp>
      <p:sp>
        <p:nvSpPr>
          <p:cNvPr id="8" name="Text 6"/>
          <p:cNvSpPr/>
          <p:nvPr/>
        </p:nvSpPr>
        <p:spPr>
          <a:xfrm>
            <a:off x="960120" y="2514600"/>
            <a:ext cx="4800600" cy="365760"/>
          </a:xfrm>
          <a:prstGeom prst="rect">
            <a:avLst/>
          </a:prstGeom>
          <a:noFill/>
          <a:ln/>
        </p:spPr>
        <p:txBody>
          <a:bodyPr wrap="square" rtlCol="0" anchor="ctr"/>
          <a:lstStyle/>
          <a:p>
            <a:pPr indent="0" marL="0">
              <a:buNone/>
            </a:pPr>
            <a:r>
              <a:rPr lang="en-US" sz="1600" b="1" dirty="0">
                <a:solidFill>
                  <a:srgbClr val="FEF3C7"/>
                </a:solidFill>
              </a:rPr>
              <a:t>⚙️ Mechanics: The 3 Vessels</a:t>
            </a:r>
            <a:endParaRPr lang="en-US" sz="1600" dirty="0"/>
          </a:p>
        </p:txBody>
      </p:sp>
      <p:sp>
        <p:nvSpPr>
          <p:cNvPr id="9" name="Text 7"/>
          <p:cNvSpPr/>
          <p:nvPr/>
        </p:nvSpPr>
        <p:spPr>
          <a:xfrm>
            <a:off x="960120" y="2971800"/>
            <a:ext cx="4800600" cy="2926080"/>
          </a:xfrm>
          <a:prstGeom prst="rect">
            <a:avLst/>
          </a:prstGeom>
          <a:noFill/>
          <a:ln/>
        </p:spPr>
        <p:txBody>
          <a:bodyPr wrap="square" rtlCol="0" anchor="ctr"/>
          <a:lstStyle/>
          <a:p>
            <a:pPr indent="0" marL="0">
              <a:lnSpc>
                <a:spcPct val="115000"/>
              </a:lnSpc>
              <a:buNone/>
            </a:pPr>
            <a:r>
              <a:rPr lang="en-US" sz="1100" dirty="0">
                <a:solidFill>
                  <a:srgbClr val="94A3B8"/>
                </a:solidFill>
              </a:rPr>
              <a:t>Each wave, your crew secretly votes for one vessel:
</a:t>
            </a:r>
            <a:pPr indent="0" marL="0">
              <a:lnSpc>
                <a:spcPct val="115000"/>
              </a:lnSpc>
              <a:buNone/>
            </a:pPr>
            <a:r>
              <a:rPr lang="en-US" sz="1100" b="1" dirty="0">
                <a:solidFill>
                  <a:srgbClr val="10B981"/>
                </a:solidFill>
              </a:rPr>
              <a:t>🚣 The Rowboat (Safe):
</a:t>
            </a:r>
            <a:pPr indent="0" marL="0">
              <a:lnSpc>
                <a:spcPct val="115000"/>
              </a:lnSpc>
              <a:buNone/>
            </a:pPr>
            <a:r>
              <a:rPr lang="en-US" sz="1100" dirty="0">
                <a:solidFill>
                  <a:srgbClr val="94A3B8"/>
                </a:solidFill>
              </a:rPr>
              <a:t>• Unlimited capacity. Always advances +150m. Never capsizes.
</a:t>
            </a:r>
            <a:pPr indent="0" marL="0">
              <a:lnSpc>
                <a:spcPct val="115000"/>
              </a:lnSpc>
              <a:buNone/>
            </a:pPr>
            <a:r>
              <a:rPr lang="en-US" sz="1100" b="1" dirty="0">
                <a:solidFill>
                  <a:srgbClr val="F59E0B"/>
                </a:solidFill>
              </a:rPr>
              <a:t>⛵ The Sailboat (Speed vs Crowds):
</a:t>
            </a:r>
            <a:pPr indent="0" marL="0">
              <a:lnSpc>
                <a:spcPct val="115000"/>
              </a:lnSpc>
              <a:buNone/>
            </a:pPr>
            <a:r>
              <a:rPr lang="en-US" sz="1100" dirty="0">
                <a:solidFill>
                  <a:srgbClr val="94A3B8"/>
                </a:solidFill>
              </a:rPr>
              <a:t>• Max 30% fleet capacity. Advances +300m, but CAPSIZES (0m) if overcrowded!
</a:t>
            </a:r>
            <a:pPr indent="0" marL="0">
              <a:lnSpc>
                <a:spcPct val="115000"/>
              </a:lnSpc>
              <a:buNone/>
            </a:pPr>
            <a:r>
              <a:rPr lang="en-US" sz="1100" b="1" dirty="0">
                <a:solidFill>
                  <a:srgbClr val="A855F7"/>
                </a:solidFill>
              </a:rPr>
              <a:t>⚡ The Ghost Ship (Solo Gamble):
</a:t>
            </a:r>
            <a:pPr indent="0" marL="0">
              <a:lnSpc>
                <a:spcPct val="115000"/>
              </a:lnSpc>
              <a:buNone/>
            </a:pPr>
            <a:r>
              <a:rPr lang="en-US" sz="1100" dirty="0">
                <a:solidFill>
                  <a:srgbClr val="94A3B8"/>
                </a:solidFill>
              </a:rPr>
              <a:t>• Exactly 1 crew. Mythic surge (+450m)! But COLLIDES (-50m) if 2+ crews board.</a:t>
            </a:r>
            <a:endParaRPr lang="en-US" sz="1100" dirty="0"/>
          </a:p>
        </p:txBody>
      </p:sp>
      <p:sp>
        <p:nvSpPr>
          <p:cNvPr id="10" name="Shape 8"/>
          <p:cNvSpPr/>
          <p:nvPr/>
        </p:nvSpPr>
        <p:spPr>
          <a:xfrm>
            <a:off x="6199632" y="2331720"/>
            <a:ext cx="5257800" cy="3794760"/>
          </a:xfrm>
          <a:prstGeom prst="roundRect">
            <a:avLst>
              <a:gd name="adj" fmla="val 1928"/>
            </a:avLst>
          </a:prstGeom>
          <a:solidFill>
            <a:srgbClr val="141A2A"/>
          </a:solidFill>
          <a:ln w="12700">
            <a:solidFill>
              <a:srgbClr val="334155"/>
            </a:solidFill>
            <a:prstDash val="solid"/>
          </a:ln>
        </p:spPr>
      </p:sp>
      <p:sp>
        <p:nvSpPr>
          <p:cNvPr id="11" name="Text 9"/>
          <p:cNvSpPr/>
          <p:nvPr/>
        </p:nvSpPr>
        <p:spPr>
          <a:xfrm>
            <a:off x="6428232" y="2514600"/>
            <a:ext cx="4800600" cy="365760"/>
          </a:xfrm>
          <a:prstGeom prst="rect">
            <a:avLst/>
          </a:prstGeom>
          <a:noFill/>
          <a:ln/>
        </p:spPr>
        <p:txBody>
          <a:bodyPr wrap="square" rtlCol="0" anchor="ctr"/>
          <a:lstStyle/>
          <a:p>
            <a:pPr indent="0" marL="0">
              <a:buNone/>
            </a:pPr>
            <a:r>
              <a:rPr lang="en-US" sz="1600" b="1" dirty="0">
                <a:solidFill>
                  <a:srgbClr val="FEF3C7"/>
                </a:solidFill>
              </a:rPr>
              <a:t>🏆 Winning Conditions</a:t>
            </a:r>
            <a:endParaRPr lang="en-US" sz="1600" dirty="0"/>
          </a:p>
        </p:txBody>
      </p:sp>
      <p:sp>
        <p:nvSpPr>
          <p:cNvPr id="12" name="Text 10"/>
          <p:cNvSpPr/>
          <p:nvPr/>
        </p:nvSpPr>
        <p:spPr>
          <a:xfrm>
            <a:off x="6428232" y="2971800"/>
            <a:ext cx="4800600" cy="2926080"/>
          </a:xfrm>
          <a:prstGeom prst="rect">
            <a:avLst/>
          </a:prstGeom>
          <a:noFill/>
          <a:ln/>
        </p:spPr>
        <p:txBody>
          <a:bodyPr wrap="square" rtlCol="0" anchor="ctr"/>
          <a:lstStyle/>
          <a:p>
            <a:pPr indent="0" marL="0">
              <a:lnSpc>
                <a:spcPct val="115000"/>
              </a:lnSpc>
              <a:buNone/>
            </a:pPr>
            <a:r>
              <a:rPr lang="en-US" sz="1100" b="1" dirty="0">
                <a:solidFill>
                  <a:srgbClr val="E2E8F0"/>
                </a:solidFill>
              </a:rPr>
              <a:t>• Starting Head-Start: </a:t>
            </a:r>
            <a:pPr indent="0" marL="0">
              <a:lnSpc>
                <a:spcPct val="115000"/>
              </a:lnSpc>
              <a:buNone/>
            </a:pPr>
            <a:r>
              <a:rPr lang="en-US" sz="1100" dirty="0">
                <a:solidFill>
                  <a:srgbClr val="94A3B8"/>
                </a:solidFill>
              </a:rPr>
              <a:t>Total points accumulated in Rounds 1 &amp; 2 convert directly into starting river meters.
</a:t>
            </a:r>
            <a:pPr indent="0" marL="0">
              <a:lnSpc>
                <a:spcPct val="115000"/>
              </a:lnSpc>
              <a:buNone/>
            </a:pPr>
            <a:r>
              <a:rPr lang="en-US" sz="1100" b="1" dirty="0">
                <a:solidFill>
                  <a:srgbClr val="E2E8F0"/>
                </a:solidFill>
              </a:rPr>
              <a:t>• The Victory Gate: </a:t>
            </a:r>
            <a:pPr indent="0" marL="0">
              <a:lnSpc>
                <a:spcPct val="115000"/>
              </a:lnSpc>
              <a:buNone/>
            </a:pPr>
            <a:r>
              <a:rPr lang="en-US" sz="1100" dirty="0">
                <a:solidFill>
                  <a:srgbClr val="F59E0B"/>
                </a:solidFill>
              </a:rPr>
              <a:t>First 3 crews to reach 1,000 meters win Gold, Silver &amp; Bronze medals!
</a:t>
            </a:r>
            <a:pPr indent="0" marL="0">
              <a:lnSpc>
                <a:spcPct val="115000"/>
              </a:lnSpc>
              <a:buNone/>
            </a:pPr>
            <a:r>
              <a:rPr lang="en-US" sz="1100" b="1" dirty="0">
                <a:solidFill>
                  <a:srgbClr val="E2E8F0"/>
                </a:solidFill>
              </a:rPr>
              <a:t>• Cerberus Revenge: </a:t>
            </a:r>
            <a:pPr indent="0" marL="0">
              <a:lnSpc>
                <a:spcPct val="115000"/>
              </a:lnSpc>
              <a:buNone/>
            </a:pPr>
            <a:r>
              <a:rPr lang="en-US" sz="1100" dirty="0">
                <a:solidFill>
                  <a:srgbClr val="F43F5E"/>
                </a:solidFill>
              </a:rPr>
              <a:t>Crews betrayed in R2 can guess their nemesis's vessel to drag them back -150m and surge +150m!
</a:t>
            </a:r>
            <a:pPr indent="0" marL="0">
              <a:lnSpc>
                <a:spcPct val="115000"/>
              </a:lnSpc>
              <a:buNone/>
            </a:pPr>
            <a:r>
              <a:rPr lang="en-US" sz="1100" b="1" dirty="0">
                <a:solidFill>
                  <a:srgbClr val="E2E8F0"/>
                </a:solidFill>
              </a:rPr>
              <a:t>• Sudden Death Standoff: </a:t>
            </a:r>
            <a:pPr indent="0" marL="0">
              <a:lnSpc>
                <a:spcPct val="115000"/>
              </a:lnSpc>
              <a:buNone/>
            </a:pPr>
            <a:r>
              <a:rPr lang="en-US" sz="1100" dirty="0">
                <a:solidFill>
                  <a:srgbClr val="94A3B8"/>
                </a:solidFill>
              </a:rPr>
              <a:t>Tie-breaker duel (Shields vs Ram vs Sails) if crews cross the portal simultaneously.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731520" y="411480"/>
            <a:ext cx="7315200" cy="256032"/>
          </a:xfrm>
          <a:prstGeom prst="rect">
            <a:avLst/>
          </a:prstGeom>
          <a:noFill/>
          <a:ln/>
        </p:spPr>
        <p:txBody>
          <a:bodyPr wrap="square" rtlCol="0" anchor="ctr"/>
          <a:lstStyle/>
          <a:p>
            <a:pPr indent="0" marL="0">
              <a:buNone/>
            </a:pPr>
            <a:r>
              <a:rPr lang="en-US" sz="1000" b="1" spc="200" kern="0" dirty="0">
                <a:solidFill>
                  <a:srgbClr val="F59E0B"/>
                </a:solidFill>
              </a:rPr>
              <a:t>FACILITATOR CHEATSHEET • AT A GLANCE</a:t>
            </a:r>
            <a:endParaRPr lang="en-US" sz="1000" dirty="0"/>
          </a:p>
        </p:txBody>
      </p:sp>
      <p:sp>
        <p:nvSpPr>
          <p:cNvPr id="3" name="Text 1"/>
          <p:cNvSpPr/>
          <p:nvPr/>
        </p:nvSpPr>
        <p:spPr>
          <a:xfrm>
            <a:off x="731520" y="658368"/>
            <a:ext cx="10725912" cy="502920"/>
          </a:xfrm>
          <a:prstGeom prst="rect">
            <a:avLst/>
          </a:prstGeom>
          <a:noFill/>
          <a:ln/>
        </p:spPr>
        <p:txBody>
          <a:bodyPr wrap="square" rtlCol="0" anchor="ctr"/>
          <a:lstStyle/>
          <a:p>
            <a:pPr indent="0" marL="0">
              <a:buNone/>
            </a:pPr>
            <a:r>
              <a:rPr lang="en-US" sz="2600" b="1" dirty="0">
                <a:solidFill>
                  <a:srgbClr val="FEF3C7"/>
                </a:solidFill>
              </a:rPr>
              <a:t>SESSION RUNNING GUIDE</a:t>
            </a:r>
            <a:endParaRPr lang="en-US" sz="2600" dirty="0"/>
          </a:p>
        </p:txBody>
      </p:sp>
      <p:sp>
        <p:nvSpPr>
          <p:cNvPr id="4" name="Text 2"/>
          <p:cNvSpPr/>
          <p:nvPr/>
        </p:nvSpPr>
        <p:spPr>
          <a:xfrm>
            <a:off x="731520" y="1170432"/>
            <a:ext cx="10725912" cy="292608"/>
          </a:xfrm>
          <a:prstGeom prst="rect">
            <a:avLst/>
          </a:prstGeom>
          <a:noFill/>
          <a:ln/>
        </p:spPr>
        <p:txBody>
          <a:bodyPr wrap="square" rtlCol="0" anchor="ctr"/>
          <a:lstStyle/>
          <a:p>
            <a:pPr indent="0" marL="0">
              <a:buNone/>
            </a:pPr>
            <a:r>
              <a:rPr lang="en-US" sz="1200" dirty="0">
                <a:solidFill>
                  <a:srgbClr val="94A3B8"/>
                </a:solidFill>
              </a:rPr>
              <a:t>Total Event Runtime: ~25 - 30 Minutes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10725912" cy="3749040"/>
        </p:xfrm>
        <a:graphic>
          <a:graphicData uri="http://schemas.openxmlformats.org/drawingml/2006/table">
            <a:tbl>
              <a:tblPr/>
              <a:tblGrid>
                <a:gridCol w="2681478"/>
                <a:gridCol w="2681478"/>
                <a:gridCol w="2681478"/>
                <a:gridCol w="2681478"/>
              </a:tblGrid>
              <a:tr h="937260">
                <a:tc>
                  <a:txBody>
                    <a:bodyPr/>
                    <a:lstStyle/>
                    <a:p>
                      <a:pPr algn="l" indent="0" marL="0">
                        <a:buNone/>
                      </a:pPr>
                      <a:r>
                        <a:rPr lang="en-US" sz="1050" b="1" dirty="0">
                          <a:solidFill>
                            <a:srgbClr val="F59E0B"/>
                          </a:solidFill>
                        </a:rPr>
                        <a:t>ROUND</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050" b="1" dirty="0">
                          <a:solidFill>
                            <a:srgbClr val="F59E0B"/>
                          </a:solidFill>
                        </a:rPr>
                        <a:t>CORE ACTIVITY</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050" b="1" dirty="0">
                          <a:solidFill>
                            <a:srgbClr val="F59E0B"/>
                          </a:solidFill>
                        </a:rPr>
                        <a:t>HOW POINTS / PROGRESS WORK</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050" b="1" dirty="0">
                          <a:solidFill>
                            <a:srgbClr val="F59E0B"/>
                          </a:solidFill>
                        </a:rPr>
                        <a:t>COMPLETION</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937260">
                <a:tc>
                  <a:txBody>
                    <a:bodyPr/>
                    <a:lstStyle/>
                    <a:p>
                      <a:pPr algn="l" indent="0" marL="0">
                        <a:buNone/>
                      </a:pPr>
                      <a:r>
                        <a:rPr lang="en-US" sz="1050" b="1" dirty="0">
                          <a:solidFill>
                            <a:srgbClr val="E2E8F0"/>
                          </a:solidFill>
                        </a:rPr>
                        <a:t>1. Shattered Tablet</a:t>
                      </a:r>
                      <a:endParaRPr lang="en-US" sz="1050" dirty="0"/>
                    </a:p>
                    <a:p>
                      <a:pPr algn="l" indent="0" marL="0">
                        <a:buNone/>
                      </a:pPr>
                      <a:r>
                        <a:rPr lang="en-US" sz="1050" b="1" dirty="0">
                          <a:solidFill>
                            <a:srgbClr val="E2E8F0"/>
                          </a:solidFill>
                        </a:rPr>
                        <a:t>(~5 min)</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algn="l" indent="0" marL="0">
                        <a:buNone/>
                      </a:pPr>
                      <a:r>
                        <a:rPr lang="en-US" sz="1050" dirty="0">
                          <a:solidFill>
                            <a:srgbClr val="94A3B8"/>
                          </a:solidFill>
                        </a:rPr>
                        <a:t>Align 5 phones physically (#1 to #5) on table to connect carved fracture lines.</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algn="l" indent="0" marL="0">
                        <a:buNone/>
                      </a:pPr>
                      <a:r>
                        <a:rPr lang="en-US" sz="1050" dirty="0">
                          <a:solidFill>
                            <a:srgbClr val="94A3B8"/>
                          </a:solidFill>
                        </a:rPr>
                        <a:t>Fast solve = top points. 50 PTS safety floor. No elimination.</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algn="l" indent="0" marL="0">
                        <a:buNone/>
                      </a:pPr>
                      <a:r>
                        <a:rPr lang="en-US" sz="1050" dirty="0">
                          <a:solidFill>
                            <a:srgbClr val="10B981"/>
                          </a:solidFill>
                        </a:rPr>
                        <a:t>Codeword entered or timer expires.</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r>
              <a:tr h="937260">
                <a:tc>
                  <a:txBody>
                    <a:bodyPr/>
                    <a:lstStyle/>
                    <a:p>
                      <a:pPr algn="l" indent="0" marL="0">
                        <a:buNone/>
                      </a:pPr>
                      <a:r>
                        <a:rPr lang="en-US" sz="1050" b="1" dirty="0">
                          <a:solidFill>
                            <a:srgbClr val="E2E8F0"/>
                          </a:solidFill>
                        </a:rPr>
                        <a:t>2. Shades in Mist</a:t>
                      </a:r>
                      <a:endParaRPr lang="en-US" sz="1050" dirty="0"/>
                    </a:p>
                    <a:p>
                      <a:pPr algn="l" indent="0" marL="0">
                        <a:buNone/>
                      </a:pPr>
                      <a:r>
                        <a:rPr lang="en-US" sz="1050" b="1" dirty="0">
                          <a:solidFill>
                            <a:srgbClr val="E2E8F0"/>
                          </a:solidFill>
                        </a:rPr>
                        <a:t>(~8 min)</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algn="l" indent="0" marL="0">
                        <a:buNone/>
                      </a:pPr>
                      <a:r>
                        <a:rPr lang="en-US" sz="1050" dirty="0">
                          <a:solidFill>
                            <a:srgbClr val="94A3B8"/>
                          </a:solidFill>
                        </a:rPr>
                        <a:t>Prisoner's Dilemma: Face rival table across 3 clashes. Talk across room &amp; vote secretly.</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algn="l" indent="0" marL="0">
                        <a:buNone/>
                      </a:pPr>
                      <a:r>
                        <a:rPr lang="en-US" sz="1050" dirty="0">
                          <a:solidFill>
                            <a:srgbClr val="94A3B8"/>
                          </a:solidFill>
                        </a:rPr>
                        <a:t>Truce = steady points. Backstab = huge points or 0. Stakes triple in Clash 3.</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algn="l" indent="0" marL="0">
                        <a:buNone/>
                      </a:pPr>
                      <a:r>
                        <a:rPr lang="en-US" sz="1050" dirty="0">
                          <a:solidFill>
                            <a:srgbClr val="10B981"/>
                          </a:solidFill>
                        </a:rPr>
                        <a:t>All 3 clashes resolved.</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r>
              <a:tr h="937260">
                <a:tc>
                  <a:txBody>
                    <a:bodyPr/>
                    <a:lstStyle/>
                    <a:p>
                      <a:pPr algn="l" indent="0" marL="0">
                        <a:buNone/>
                      </a:pPr>
                      <a:r>
                        <a:rPr lang="en-US" sz="1050" b="1" dirty="0">
                          <a:solidFill>
                            <a:srgbClr val="E2E8F0"/>
                          </a:solidFill>
                        </a:rPr>
                        <a:t>3. Styx Escape</a:t>
                      </a:r>
                      <a:endParaRPr lang="en-US" sz="1050" dirty="0"/>
                    </a:p>
                    <a:p>
                      <a:pPr algn="l" indent="0" marL="0">
                        <a:buNone/>
                      </a:pPr>
                      <a:r>
                        <a:rPr lang="en-US" sz="1050" b="1" dirty="0">
                          <a:solidFill>
                            <a:srgbClr val="E2E8F0"/>
                          </a:solidFill>
                        </a:rPr>
                        <a:t>(~8 min)</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algn="l" indent="0" marL="0">
                        <a:buNone/>
                      </a:pPr>
                      <a:r>
                        <a:rPr lang="en-US" sz="1050" dirty="0">
                          <a:solidFill>
                            <a:srgbClr val="94A3B8"/>
                          </a:solidFill>
                        </a:rPr>
                        <a:t>Congestion race: Pick vessels (Rowboat: safe, Sailboat: 30% cap, Ghost: solo).</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algn="l" indent="0" marL="0">
                        <a:buNone/>
                      </a:pPr>
                      <a:r>
                        <a:rPr lang="en-US" sz="1050" dirty="0">
                          <a:solidFill>
                            <a:srgbClr val="94A3B8"/>
                          </a:solidFill>
                        </a:rPr>
                        <a:t>Points become starting meters. Avoid congestion and unleash Cerberus revenge.</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algn="l" indent="0" marL="0">
                        <a:buNone/>
                      </a:pPr>
                      <a:r>
                        <a:rPr lang="en-US" sz="1050" dirty="0">
                          <a:solidFill>
                            <a:srgbClr val="F59E0B"/>
                          </a:solidFill>
                        </a:rPr>
                        <a:t>Top 3 crews cross 1,000m to win Gold, Silver &amp; Bronze medals!</a:t>
                      </a:r>
                      <a:endParaRPr lang="en-US" sz="10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r>
            </a:tbl>
          </a:graphicData>
        </a:graphic>
      </p:graphicFrame>
      <p:sp>
        <p:nvSpPr>
          <p:cNvPr id="6" name="Shape 3"/>
          <p:cNvSpPr/>
          <p:nvPr/>
        </p:nvSpPr>
        <p:spPr>
          <a:xfrm>
            <a:off x="731520" y="5669280"/>
            <a:ext cx="10725912" cy="594360"/>
          </a:xfrm>
          <a:prstGeom prst="rect">
            <a:avLst/>
          </a:prstGeom>
          <a:solidFill>
            <a:srgbClr val="1E293B"/>
          </a:solidFill>
          <a:ln w="12700">
            <a:solidFill>
              <a:srgbClr val="F59E0B"/>
            </a:solidFill>
            <a:prstDash val="solid"/>
          </a:ln>
        </p:spPr>
      </p:sp>
      <p:sp>
        <p:nvSpPr>
          <p:cNvPr id="7" name="Text 4"/>
          <p:cNvSpPr/>
          <p:nvPr/>
        </p:nvSpPr>
        <p:spPr>
          <a:xfrm>
            <a:off x="914400" y="5806440"/>
            <a:ext cx="10360152" cy="320040"/>
          </a:xfrm>
          <a:prstGeom prst="rect">
            <a:avLst/>
          </a:prstGeom>
          <a:noFill/>
          <a:ln/>
        </p:spPr>
        <p:txBody>
          <a:bodyPr wrap="square" rtlCol="0" anchor="ctr"/>
          <a:lstStyle/>
          <a:p>
            <a:pPr algn="ctr" indent="0" marL="0">
              <a:buNone/>
            </a:pPr>
            <a:r>
              <a:rPr lang="en-US" sz="1100" b="1" dirty="0">
                <a:solidFill>
                  <a:srgbClr val="FEF3C7"/>
                </a:solidFill>
              </a:rPr>
              <a:t>🎮 Host Operations: Game Master advances rounds at /admin • Players play at / • Solo sandbox at /test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Underworld: The Stygian Trials - Team Briefing</dc:title>
  <dc:subject>PptxGenJS Presentation</dc:subject>
  <dc:creator>Game Master Team</dc:creator>
  <cp:lastModifiedBy>Game Master Team</cp:lastModifiedBy>
  <cp:revision>1</cp:revision>
  <dcterms:created xsi:type="dcterms:W3CDTF">2026-10-24T00:42:42Z</dcterms:created>
  <dcterms:modified xsi:type="dcterms:W3CDTF">2026-10-24T00:42:42Z</dcterms:modified>
</cp:coreProperties>
</file>