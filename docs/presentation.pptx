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69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3617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marL="0" indent="0">
              <a:buNone/>
            </a:pPr>
            <a:r>
              <a:rPr lang="en-US" sz="1000" b="1" kern="0" spc="200" dirty="0">
                <a:solidFill>
                  <a:srgbClr val="F59E0B"/>
                </a:solidFill>
              </a:rPr>
              <a:t>UNDERWORLD ENGINE • TEAM BRIEFING</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marL="0" indent="0">
              <a:buNone/>
            </a:pPr>
            <a:r>
              <a:rPr lang="en-US" sz="2600" b="1" dirty="0">
                <a:solidFill>
                  <a:srgbClr val="FEF3C7"/>
                </a:solidFill>
              </a:rPr>
              <a:t>ESCAPE FROM TARTARUS</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marL="0" indent="0">
              <a:buNone/>
            </a:pPr>
            <a:r>
              <a:rPr lang="en-US" sz="1200" dirty="0">
                <a:solidFill>
                  <a:srgbClr val="94A3B8"/>
                </a:solidFill>
              </a:rPr>
              <a:t>Complete Game Overview &amp; 3-Round Journey</a:t>
            </a:r>
            <a:endParaRPr lang="en-US" sz="1200" dirty="0"/>
          </a:p>
        </p:txBody>
      </p:sp>
      <p:sp>
        <p:nvSpPr>
          <p:cNvPr id="5" name="Shape 3"/>
          <p:cNvSpPr/>
          <p:nvPr/>
        </p:nvSpPr>
        <p:spPr>
          <a:xfrm>
            <a:off x="731520" y="1645920"/>
            <a:ext cx="5257800" cy="3474720"/>
          </a:xfrm>
          <a:prstGeom prst="roundRect">
            <a:avLst>
              <a:gd name="adj" fmla="val 2105"/>
            </a:avLst>
          </a:prstGeom>
          <a:solidFill>
            <a:srgbClr val="141A2A"/>
          </a:solidFill>
          <a:ln w="12700">
            <a:solidFill>
              <a:srgbClr val="334155"/>
            </a:solidFill>
            <a:prstDash val="solid"/>
          </a:ln>
        </p:spPr>
        <p:txBody>
          <a:bodyPr/>
          <a:lstStyle/>
          <a:p>
            <a:endParaRPr lang="en-IN"/>
          </a:p>
        </p:txBody>
      </p:sp>
      <p:sp>
        <p:nvSpPr>
          <p:cNvPr id="6" name="Text 4"/>
          <p:cNvSpPr/>
          <p:nvPr/>
        </p:nvSpPr>
        <p:spPr>
          <a:xfrm>
            <a:off x="960120" y="1828800"/>
            <a:ext cx="4800600" cy="365760"/>
          </a:xfrm>
          <a:prstGeom prst="rect">
            <a:avLst/>
          </a:prstGeom>
          <a:noFill/>
          <a:ln/>
        </p:spPr>
        <p:txBody>
          <a:bodyPr wrap="square" rtlCol="0" anchor="ctr"/>
          <a:lstStyle/>
          <a:p>
            <a:pPr marL="0" indent="0">
              <a:buNone/>
            </a:pPr>
            <a:r>
              <a:rPr lang="en-US" sz="1600" b="1" dirty="0">
                <a:solidFill>
                  <a:srgbClr val="FEF3C7"/>
                </a:solidFill>
              </a:rPr>
              <a:t>👥 The 5-Player Crews</a:t>
            </a:r>
            <a:endParaRPr lang="en-US" sz="1600" dirty="0"/>
          </a:p>
        </p:txBody>
      </p:sp>
      <p:sp>
        <p:nvSpPr>
          <p:cNvPr id="7" name="Text 5"/>
          <p:cNvSpPr/>
          <p:nvPr/>
        </p:nvSpPr>
        <p:spPr>
          <a:xfrm>
            <a:off x="960120" y="2286000"/>
            <a:ext cx="4800600" cy="2651760"/>
          </a:xfrm>
          <a:prstGeom prst="rect">
            <a:avLst/>
          </a:prstGeom>
          <a:noFill/>
          <a:ln/>
        </p:spPr>
        <p:txBody>
          <a:bodyPr wrap="square" rtlCol="0" anchor="ctr"/>
          <a:lstStyle/>
          <a:p>
            <a:pPr marL="0" indent="0">
              <a:lnSpc>
                <a:spcPct val="115000"/>
              </a:lnSpc>
              <a:buNone/>
            </a:pPr>
            <a:r>
              <a:rPr lang="en-US" sz="1150" b="1" dirty="0">
                <a:solidFill>
                  <a:srgbClr val="E2E8F0"/>
                </a:solidFill>
              </a:rPr>
              <a:t>• 5 Distinct Roles: </a:t>
            </a:r>
            <a:r>
              <a:rPr lang="en-US" sz="1150" dirty="0">
                <a:solidFill>
                  <a:srgbClr val="94A3B8"/>
                </a:solidFill>
              </a:rPr>
              <a:t>Navigator, Oracle, Scholar, Torchbearer, Negotiator.
</a:t>
            </a:r>
            <a:r>
              <a:rPr lang="en-US" sz="1150" b="1" dirty="0">
                <a:solidFill>
                  <a:srgbClr val="E2E8F0"/>
                </a:solidFill>
              </a:rPr>
              <a:t>• Simple Identity (No Complex Powers): </a:t>
            </a:r>
            <a:r>
              <a:rPr lang="en-US" sz="1150" dirty="0">
                <a:solidFill>
                  <a:srgbClr val="94A3B8"/>
                </a:solidFill>
              </a:rPr>
              <a:t>Roles serve as crew member identities and tablet puzzle slots. Players don't need to manage complicated abilities.
</a:t>
            </a:r>
            <a:r>
              <a:rPr lang="en-US" sz="1150" b="1" dirty="0">
                <a:solidFill>
                  <a:srgbClr val="E2E8F0"/>
                </a:solidFill>
              </a:rPr>
              <a:t>• 1-Tap Emoji Joining: </a:t>
            </a:r>
            <a:r>
              <a:rPr lang="en-US" sz="1150" dirty="0">
                <a:solidFill>
                  <a:srgbClr val="94A3B8"/>
                </a:solidFill>
              </a:rPr>
              <a:t>One player creates the crew; teammates join by tapping 3 emojis on screen (e.g. Skull • Bolt • Shield).
</a:t>
            </a:r>
            <a:r>
              <a:rPr lang="en-US" sz="1150" b="1" dirty="0">
                <a:solidFill>
                  <a:srgbClr val="E2E8F0"/>
                </a:solidFill>
              </a:rPr>
              <a:t>• Zero Friction: </a:t>
            </a:r>
            <a:r>
              <a:rPr lang="en-US" sz="1150" dirty="0">
                <a:solidFill>
                  <a:srgbClr val="10B981"/>
                </a:solidFill>
              </a:rPr>
              <a:t>No apps to download, no typing, no camera permissions required.</a:t>
            </a:r>
            <a:endParaRPr lang="en-US" sz="1150" dirty="0"/>
          </a:p>
        </p:txBody>
      </p:sp>
      <p:sp>
        <p:nvSpPr>
          <p:cNvPr id="8" name="Shape 6"/>
          <p:cNvSpPr/>
          <p:nvPr/>
        </p:nvSpPr>
        <p:spPr>
          <a:xfrm>
            <a:off x="6199632" y="1645920"/>
            <a:ext cx="5257800" cy="3474720"/>
          </a:xfrm>
          <a:prstGeom prst="roundRect">
            <a:avLst>
              <a:gd name="adj" fmla="val 2105"/>
            </a:avLst>
          </a:prstGeom>
          <a:solidFill>
            <a:srgbClr val="141A2A"/>
          </a:solidFill>
          <a:ln w="12700">
            <a:solidFill>
              <a:srgbClr val="334155"/>
            </a:solidFill>
            <a:prstDash val="solid"/>
          </a:ln>
        </p:spPr>
        <p:txBody>
          <a:bodyPr/>
          <a:lstStyle/>
          <a:p>
            <a:endParaRPr lang="en-IN"/>
          </a:p>
        </p:txBody>
      </p:sp>
      <p:sp>
        <p:nvSpPr>
          <p:cNvPr id="9" name="Text 7"/>
          <p:cNvSpPr/>
          <p:nvPr/>
        </p:nvSpPr>
        <p:spPr>
          <a:xfrm>
            <a:off x="6428232" y="1828800"/>
            <a:ext cx="4800600" cy="365760"/>
          </a:xfrm>
          <a:prstGeom prst="rect">
            <a:avLst/>
          </a:prstGeom>
          <a:noFill/>
          <a:ln/>
        </p:spPr>
        <p:txBody>
          <a:bodyPr wrap="square" rtlCol="0" anchor="ctr"/>
          <a:lstStyle/>
          <a:p>
            <a:pPr marL="0" indent="0">
              <a:buNone/>
            </a:pPr>
            <a:r>
              <a:rPr lang="en-US" sz="1600" b="1" dirty="0">
                <a:solidFill>
                  <a:srgbClr val="FEF3C7"/>
                </a:solidFill>
              </a:rPr>
              <a:t>🏆 The Ultimate Objective</a:t>
            </a:r>
            <a:endParaRPr lang="en-US" sz="1600" dirty="0"/>
          </a:p>
        </p:txBody>
      </p:sp>
      <p:sp>
        <p:nvSpPr>
          <p:cNvPr id="10" name="Text 8"/>
          <p:cNvSpPr/>
          <p:nvPr/>
        </p:nvSpPr>
        <p:spPr>
          <a:xfrm>
            <a:off x="6428232" y="2286000"/>
            <a:ext cx="4800600" cy="2651760"/>
          </a:xfrm>
          <a:prstGeom prst="rect">
            <a:avLst/>
          </a:prstGeom>
          <a:noFill/>
          <a:ln/>
        </p:spPr>
        <p:txBody>
          <a:bodyPr wrap="square" rtlCol="0" anchor="ctr"/>
          <a:lstStyle/>
          <a:p>
            <a:pPr marL="0" indent="0">
              <a:lnSpc>
                <a:spcPct val="115000"/>
              </a:lnSpc>
              <a:buNone/>
            </a:pPr>
            <a:r>
              <a:rPr lang="en-US" sz="1150" b="1" dirty="0">
                <a:solidFill>
                  <a:srgbClr val="E2E8F0"/>
                </a:solidFill>
              </a:rPr>
              <a:t>• Rounds 1 &amp; 2 (Points Pool): </a:t>
            </a:r>
            <a:r>
              <a:rPr lang="en-US" sz="1150" dirty="0">
                <a:solidFill>
                  <a:srgbClr val="94A3B8"/>
                </a:solidFill>
              </a:rPr>
              <a:t>Earn points through team physical coordination and tactical room psychology.
</a:t>
            </a:r>
            <a:r>
              <a:rPr lang="en-US" sz="1150" b="1" dirty="0">
                <a:solidFill>
                  <a:srgbClr val="E2E8F0"/>
                </a:solidFill>
              </a:rPr>
              <a:t>• Starting Head-Start: </a:t>
            </a:r>
            <a:r>
              <a:rPr lang="en-US" sz="1150" dirty="0">
                <a:solidFill>
                  <a:srgbClr val="94A3B8"/>
                </a:solidFill>
              </a:rPr>
              <a:t>Cumulative points convert directly into starting distance meters on the River Styx in Round 3!
</a:t>
            </a:r>
            <a:r>
              <a:rPr lang="en-US" sz="1150" b="1" dirty="0">
                <a:solidFill>
                  <a:srgbClr val="E2E8F0"/>
                </a:solidFill>
              </a:rPr>
              <a:t>• Podium Victory: </a:t>
            </a:r>
            <a:r>
              <a:rPr lang="en-US" sz="1150" dirty="0">
                <a:solidFill>
                  <a:srgbClr val="F59E0B"/>
                </a:solidFill>
              </a:rPr>
              <a:t>First 3 crews to cross the 1,000-meter exit portal win Gold, Silver, and Bronze medals.
</a:t>
            </a:r>
            <a:r>
              <a:rPr lang="en-US" sz="1150" b="1" dirty="0">
                <a:solidFill>
                  <a:srgbClr val="E2E8F0"/>
                </a:solidFill>
              </a:rPr>
              <a:t>• High Energy: </a:t>
            </a:r>
            <a:r>
              <a:rPr lang="en-US" sz="1150" dirty="0">
                <a:solidFill>
                  <a:srgbClr val="94A3B8"/>
                </a:solidFill>
              </a:rPr>
              <a:t>The whole experience runs in ~25-30 minutes of fast, social interaction.</a:t>
            </a:r>
            <a:endParaRPr lang="en-US" sz="1150" dirty="0"/>
          </a:p>
        </p:txBody>
      </p:sp>
      <p:sp>
        <p:nvSpPr>
          <p:cNvPr id="11" name="Shape 9"/>
          <p:cNvSpPr/>
          <p:nvPr/>
        </p:nvSpPr>
        <p:spPr>
          <a:xfrm>
            <a:off x="731520" y="5349240"/>
            <a:ext cx="2514600" cy="731520"/>
          </a:xfrm>
          <a:prstGeom prst="roundRect">
            <a:avLst>
              <a:gd name="adj" fmla="val 10000"/>
            </a:avLst>
          </a:prstGeom>
          <a:solidFill>
            <a:srgbClr val="141A2A"/>
          </a:solidFill>
          <a:ln w="19050">
            <a:solidFill>
              <a:srgbClr val="F59E0B"/>
            </a:solidFill>
            <a:prstDash val="solid"/>
          </a:ln>
        </p:spPr>
        <p:txBody>
          <a:bodyPr/>
          <a:lstStyle/>
          <a:p>
            <a:endParaRPr lang="en-IN"/>
          </a:p>
        </p:txBody>
      </p:sp>
      <p:sp>
        <p:nvSpPr>
          <p:cNvPr id="12" name="Text 10"/>
          <p:cNvSpPr/>
          <p:nvPr/>
        </p:nvSpPr>
        <p:spPr>
          <a:xfrm>
            <a:off x="822960" y="5486400"/>
            <a:ext cx="2331720" cy="457200"/>
          </a:xfrm>
          <a:prstGeom prst="rect">
            <a:avLst/>
          </a:prstGeom>
          <a:noFill/>
          <a:ln/>
        </p:spPr>
        <p:txBody>
          <a:bodyPr wrap="square" rtlCol="0" anchor="ctr"/>
          <a:lstStyle/>
          <a:p>
            <a:pPr marL="0" indent="0" algn="ctr">
              <a:buNone/>
            </a:pPr>
            <a:r>
              <a:rPr lang="en-US" sz="1200" b="1" dirty="0">
                <a:solidFill>
                  <a:srgbClr val="FEF3C7"/>
                </a:solidFill>
              </a:rPr>
              <a:t>0. Lobby Assembly</a:t>
            </a:r>
            <a:endParaRPr lang="en-US" sz="1200" dirty="0"/>
          </a:p>
        </p:txBody>
      </p:sp>
      <p:sp>
        <p:nvSpPr>
          <p:cNvPr id="13" name="Shape 11"/>
          <p:cNvSpPr/>
          <p:nvPr/>
        </p:nvSpPr>
        <p:spPr>
          <a:xfrm>
            <a:off x="3465576" y="5349240"/>
            <a:ext cx="2514600" cy="731520"/>
          </a:xfrm>
          <a:prstGeom prst="roundRect">
            <a:avLst>
              <a:gd name="adj" fmla="val 10000"/>
            </a:avLst>
          </a:prstGeom>
          <a:solidFill>
            <a:srgbClr val="141A2A"/>
          </a:solidFill>
          <a:ln w="19050">
            <a:solidFill>
              <a:srgbClr val="F59E0B"/>
            </a:solidFill>
            <a:prstDash val="solid"/>
          </a:ln>
        </p:spPr>
        <p:txBody>
          <a:bodyPr/>
          <a:lstStyle/>
          <a:p>
            <a:endParaRPr lang="en-IN"/>
          </a:p>
        </p:txBody>
      </p:sp>
      <p:sp>
        <p:nvSpPr>
          <p:cNvPr id="14" name="Text 12"/>
          <p:cNvSpPr/>
          <p:nvPr/>
        </p:nvSpPr>
        <p:spPr>
          <a:xfrm>
            <a:off x="3557016" y="5486400"/>
            <a:ext cx="2331720" cy="457200"/>
          </a:xfrm>
          <a:prstGeom prst="rect">
            <a:avLst/>
          </a:prstGeom>
          <a:noFill/>
          <a:ln/>
        </p:spPr>
        <p:txBody>
          <a:bodyPr wrap="square" rtlCol="0" anchor="ctr"/>
          <a:lstStyle/>
          <a:p>
            <a:pPr marL="0" indent="0" algn="ctr">
              <a:buNone/>
            </a:pPr>
            <a:r>
              <a:rPr lang="en-US" sz="1200" b="1" dirty="0">
                <a:solidFill>
                  <a:srgbClr val="FEF3C7"/>
                </a:solidFill>
              </a:rPr>
              <a:t>1. Shattered Tablet</a:t>
            </a:r>
            <a:endParaRPr lang="en-US" sz="1200" dirty="0"/>
          </a:p>
        </p:txBody>
      </p:sp>
      <p:sp>
        <p:nvSpPr>
          <p:cNvPr id="15" name="Shape 13"/>
          <p:cNvSpPr/>
          <p:nvPr/>
        </p:nvSpPr>
        <p:spPr>
          <a:xfrm>
            <a:off x="6199632" y="5349240"/>
            <a:ext cx="2514600" cy="731520"/>
          </a:xfrm>
          <a:prstGeom prst="roundRect">
            <a:avLst>
              <a:gd name="adj" fmla="val 10000"/>
            </a:avLst>
          </a:prstGeom>
          <a:solidFill>
            <a:srgbClr val="141A2A"/>
          </a:solidFill>
          <a:ln w="19050">
            <a:solidFill>
              <a:srgbClr val="F59E0B"/>
            </a:solidFill>
            <a:prstDash val="solid"/>
          </a:ln>
        </p:spPr>
        <p:txBody>
          <a:bodyPr/>
          <a:lstStyle/>
          <a:p>
            <a:endParaRPr lang="en-IN"/>
          </a:p>
        </p:txBody>
      </p:sp>
      <p:sp>
        <p:nvSpPr>
          <p:cNvPr id="16" name="Text 14"/>
          <p:cNvSpPr/>
          <p:nvPr/>
        </p:nvSpPr>
        <p:spPr>
          <a:xfrm>
            <a:off x="6291072" y="5486400"/>
            <a:ext cx="2331720" cy="457200"/>
          </a:xfrm>
          <a:prstGeom prst="rect">
            <a:avLst/>
          </a:prstGeom>
          <a:noFill/>
          <a:ln/>
        </p:spPr>
        <p:txBody>
          <a:bodyPr wrap="square" rtlCol="0" anchor="ctr"/>
          <a:lstStyle/>
          <a:p>
            <a:pPr marL="0" indent="0" algn="ctr">
              <a:buNone/>
            </a:pPr>
            <a:r>
              <a:rPr lang="en-US" sz="1200" b="1" dirty="0">
                <a:solidFill>
                  <a:srgbClr val="FEF3C7"/>
                </a:solidFill>
              </a:rPr>
              <a:t>2. Shades in Mist</a:t>
            </a:r>
            <a:endParaRPr lang="en-US" sz="1200" dirty="0"/>
          </a:p>
        </p:txBody>
      </p:sp>
      <p:sp>
        <p:nvSpPr>
          <p:cNvPr id="17" name="Shape 15"/>
          <p:cNvSpPr/>
          <p:nvPr/>
        </p:nvSpPr>
        <p:spPr>
          <a:xfrm>
            <a:off x="8933688" y="5349240"/>
            <a:ext cx="2514600" cy="731520"/>
          </a:xfrm>
          <a:prstGeom prst="roundRect">
            <a:avLst>
              <a:gd name="adj" fmla="val 10000"/>
            </a:avLst>
          </a:prstGeom>
          <a:solidFill>
            <a:srgbClr val="141A2A"/>
          </a:solidFill>
          <a:ln w="19050">
            <a:solidFill>
              <a:srgbClr val="F59E0B"/>
            </a:solidFill>
            <a:prstDash val="solid"/>
          </a:ln>
        </p:spPr>
        <p:txBody>
          <a:bodyPr/>
          <a:lstStyle/>
          <a:p>
            <a:endParaRPr lang="en-IN"/>
          </a:p>
        </p:txBody>
      </p:sp>
      <p:sp>
        <p:nvSpPr>
          <p:cNvPr id="18" name="Text 16"/>
          <p:cNvSpPr/>
          <p:nvPr/>
        </p:nvSpPr>
        <p:spPr>
          <a:xfrm>
            <a:off x="9025128" y="5486400"/>
            <a:ext cx="2331720" cy="457200"/>
          </a:xfrm>
          <a:prstGeom prst="rect">
            <a:avLst/>
          </a:prstGeom>
          <a:noFill/>
          <a:ln/>
        </p:spPr>
        <p:txBody>
          <a:bodyPr wrap="square" rtlCol="0" anchor="ctr"/>
          <a:lstStyle/>
          <a:p>
            <a:pPr marL="0" indent="0" algn="ctr">
              <a:buNone/>
            </a:pPr>
            <a:r>
              <a:rPr lang="en-US" sz="1200" b="1" dirty="0">
                <a:solidFill>
                  <a:srgbClr val="FEF3C7"/>
                </a:solidFill>
              </a:rPr>
              <a:t>3. Styx Escape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marL="0" indent="0">
              <a:buNone/>
            </a:pPr>
            <a:r>
              <a:rPr lang="en-US" sz="1000" b="1" kern="0" spc="200" dirty="0">
                <a:solidFill>
                  <a:srgbClr val="06B6D4"/>
                </a:solidFill>
              </a:rPr>
              <a:t>ROUND 1 • PHYSICAL COOPERATION PUZZLE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marL="0" indent="0">
              <a:buNone/>
            </a:pPr>
            <a:r>
              <a:rPr lang="en-US" sz="2600" b="1" dirty="0">
                <a:solidFill>
                  <a:srgbClr val="FEF3C7"/>
                </a:solidFill>
              </a:rPr>
              <a:t>THE SHATTERED TABLET</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marL="0" indent="0">
              <a:buNone/>
            </a:pPr>
            <a:r>
              <a:rPr lang="en-US" sz="1200" dirty="0">
                <a:solidFill>
                  <a:srgbClr val="94A3B8"/>
                </a:solidFill>
              </a:rPr>
              <a:t>Tomb Gate Alignment • Duration: ~5 Minutes</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06B6D4"/>
            </a:solidFill>
            <a:prstDash val="solid"/>
          </a:ln>
        </p:spPr>
        <p:txBody>
          <a:bodyPr/>
          <a:lstStyle/>
          <a:p>
            <a:endParaRPr lang="en-IN"/>
          </a:p>
        </p:txBody>
      </p:sp>
      <p:sp>
        <p:nvSpPr>
          <p:cNvPr id="6" name="Text 4"/>
          <p:cNvSpPr/>
          <p:nvPr/>
        </p:nvSpPr>
        <p:spPr>
          <a:xfrm>
            <a:off x="914400" y="1618488"/>
            <a:ext cx="10360152" cy="502920"/>
          </a:xfrm>
          <a:prstGeom prst="rect">
            <a:avLst/>
          </a:prstGeom>
          <a:noFill/>
          <a:ln/>
        </p:spPr>
        <p:txBody>
          <a:bodyPr wrap="square" rtlCol="0" anchor="ctr"/>
          <a:lstStyle/>
          <a:p>
            <a:pPr marL="0" indent="0">
              <a:buNone/>
            </a:pPr>
            <a:r>
              <a:rPr lang="en-US" sz="1100" i="1" dirty="0">
                <a:solidFill>
                  <a:srgbClr val="FEF3C7"/>
                </a:solidFill>
              </a:rPr>
              <a:t>🏛️ The Story: Walking through the dark expanse of Tartarus, your crew reaches a sealed ancient stone door. You need a codeword to pass. Pieces of a shattered ancient tablet lie on the ground before you.</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06B6D4"/>
            </a:solidFill>
            <a:prstDash val="solid"/>
          </a:ln>
        </p:spPr>
        <p:txBody>
          <a:bodyPr/>
          <a:lstStyle/>
          <a:p>
            <a:endParaRPr lang="en-IN"/>
          </a:p>
        </p:txBody>
      </p:sp>
      <p:sp>
        <p:nvSpPr>
          <p:cNvPr id="8" name="Text 6"/>
          <p:cNvSpPr/>
          <p:nvPr/>
        </p:nvSpPr>
        <p:spPr>
          <a:xfrm>
            <a:off x="960120" y="2514600"/>
            <a:ext cx="4800600" cy="365760"/>
          </a:xfrm>
          <a:prstGeom prst="rect">
            <a:avLst/>
          </a:prstGeom>
          <a:noFill/>
          <a:ln/>
        </p:spPr>
        <p:txBody>
          <a:bodyPr wrap="square" rtlCol="0" anchor="ctr"/>
          <a:lstStyle/>
          <a:p>
            <a:pPr marL="0" indent="0">
              <a:buNone/>
            </a:pPr>
            <a:r>
              <a:rPr lang="en-US" sz="1600" b="1" dirty="0">
                <a:solidFill>
                  <a:srgbClr val="FEF3C7"/>
                </a:solidFill>
              </a:rPr>
              <a:t>⚙️ Mechanics</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marL="0" indent="0">
              <a:lnSpc>
                <a:spcPct val="115000"/>
              </a:lnSpc>
              <a:buNone/>
            </a:pPr>
            <a:r>
              <a:rPr lang="en-US" sz="1150" b="1" dirty="0">
                <a:solidFill>
                  <a:srgbClr val="E2E8F0"/>
                </a:solidFill>
              </a:rPr>
              <a:t>• 5 Slices on 5 Phones: </a:t>
            </a:r>
            <a:r>
              <a:rPr lang="en-US" sz="1150" dirty="0">
                <a:solidFill>
                  <a:srgbClr val="94A3B8"/>
                </a:solidFill>
              </a:rPr>
              <a:t>The tablet is split into 5 vertical slices distributed across the crew's phones (#1 to #5).
</a:t>
            </a:r>
            <a:r>
              <a:rPr lang="en-US" sz="1150" b="1" dirty="0">
                <a:solidFill>
                  <a:srgbClr val="E2E8F0"/>
                </a:solidFill>
              </a:rPr>
              <a:t>• Physical Phone Order: </a:t>
            </a:r>
            <a:r>
              <a:rPr lang="en-US" sz="1150" dirty="0">
                <a:solidFill>
                  <a:srgbClr val="94A3B8"/>
                </a:solidFill>
              </a:rPr>
              <a:t>Players physically place their 5 phones side-by-side in numerical order (#1 to #5) across the table.
</a:t>
            </a:r>
            <a:r>
              <a:rPr lang="en-US" sz="1150" b="1" dirty="0">
                <a:solidFill>
                  <a:srgbClr val="E2E8F0"/>
                </a:solidFill>
              </a:rPr>
              <a:t>• The Codeword: </a:t>
            </a:r>
            <a:r>
              <a:rPr lang="en-US" sz="1150" dirty="0">
                <a:solidFill>
                  <a:srgbClr val="F59E0B"/>
                </a:solidFill>
              </a:rPr>
              <a:t>Golden carved fracture lines connect across phone borders to reveal a 2-word codeword (e.g. CRIMSON SHADOW).
</a:t>
            </a:r>
            <a:r>
              <a:rPr lang="en-US" sz="1150" b="1" dirty="0">
                <a:solidFill>
                  <a:srgbClr val="E2E8F0"/>
                </a:solidFill>
              </a:rPr>
              <a:t>• Team Submission: </a:t>
            </a:r>
            <a:r>
              <a:rPr lang="en-US" sz="1150" dirty="0">
                <a:solidFill>
                  <a:srgbClr val="E2E8F0"/>
                </a:solidFill>
              </a:rPr>
              <a:t>Any player in the crew can type and submit the answer on their screen.</a:t>
            </a:r>
            <a:endParaRPr lang="en-US" sz="115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txBody>
          <a:bodyPr/>
          <a:lstStyle/>
          <a:p>
            <a:endParaRPr lang="en-IN"/>
          </a:p>
        </p:txBody>
      </p:sp>
      <p:sp>
        <p:nvSpPr>
          <p:cNvPr id="11" name="Text 9"/>
          <p:cNvSpPr/>
          <p:nvPr/>
        </p:nvSpPr>
        <p:spPr>
          <a:xfrm>
            <a:off x="6428232" y="2514600"/>
            <a:ext cx="4800600" cy="365760"/>
          </a:xfrm>
          <a:prstGeom prst="rect">
            <a:avLst/>
          </a:prstGeom>
          <a:noFill/>
          <a:ln/>
        </p:spPr>
        <p:txBody>
          <a:bodyPr wrap="square" rtlCol="0" anchor="ctr"/>
          <a:lstStyle/>
          <a:p>
            <a:pPr marL="0" indent="0">
              <a:buNone/>
            </a:pPr>
            <a:r>
              <a:rPr lang="en-US" sz="1600" b="1" dirty="0">
                <a:solidFill>
                  <a:srgbClr val="FEF3C7"/>
                </a:solidFill>
              </a:rPr>
              <a:t>🏆 Points &amp; Winning Conditions</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marL="0" indent="0">
              <a:lnSpc>
                <a:spcPct val="115000"/>
              </a:lnSpc>
              <a:buNone/>
            </a:pPr>
            <a:r>
              <a:rPr lang="en-US" sz="1150" b="1" dirty="0">
                <a:solidFill>
                  <a:srgbClr val="E2E8F0"/>
                </a:solidFill>
              </a:rPr>
              <a:t>• Speed is Rewarded: </a:t>
            </a:r>
            <a:r>
              <a:rPr lang="en-US" sz="1150" dirty="0">
                <a:solidFill>
                  <a:srgbClr val="94A3B8"/>
                </a:solidFill>
              </a:rPr>
              <a:t>Faster team solves earn higher base points (Legendary → Swift → Steady).
</a:t>
            </a:r>
            <a:r>
              <a:rPr lang="en-US" sz="1150" b="1" dirty="0">
                <a:solidFill>
                  <a:srgbClr val="E2E8F0"/>
                </a:solidFill>
              </a:rPr>
              <a:t>• Guaranteed Safety Floor: </a:t>
            </a:r>
            <a:r>
              <a:rPr lang="en-US" sz="1150" dirty="0">
                <a:solidFill>
                  <a:srgbClr val="10B981"/>
                </a:solidFill>
              </a:rPr>
              <a:t>A 50 PTS minimum floor ensures every crew passes through the tomb gate.
</a:t>
            </a:r>
            <a:r>
              <a:rPr lang="en-US" sz="1150" b="1" dirty="0">
                <a:solidFill>
                  <a:srgbClr val="E2E8F0"/>
                </a:solidFill>
              </a:rPr>
              <a:t>• Round Completion: </a:t>
            </a:r>
            <a:r>
              <a:rPr lang="en-US" sz="1150" dirty="0">
                <a:solidFill>
                  <a:srgbClr val="94A3B8"/>
                </a:solidFill>
              </a:rPr>
              <a:t>The round ends when all crews submit the code or the timer concludes.
</a:t>
            </a:r>
            <a:r>
              <a:rPr lang="en-US" sz="1150" b="1" dirty="0">
                <a:solidFill>
                  <a:srgbClr val="F59E0B"/>
                </a:solidFill>
              </a:rPr>
              <a:t>💡 Facilitator Prompt: </a:t>
            </a:r>
            <a:r>
              <a:rPr lang="en-US" sz="1150" dirty="0">
                <a:solidFill>
                  <a:srgbClr val="FEF3C7"/>
                </a:solidFill>
              </a:rPr>
              <a:t>"Don't stay seated staring at your own screen—stand up, place your 5 phones in order 1 to 5, and read the tablet together!"</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marL="0" indent="0">
              <a:buNone/>
            </a:pPr>
            <a:r>
              <a:rPr lang="en-US" sz="1000" b="1" kern="0" spc="200" dirty="0">
                <a:solidFill>
                  <a:srgbClr val="F43F5E"/>
                </a:solidFill>
              </a:rPr>
              <a:t>ROUND 2 • PRISONER'S DILEMMA</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marL="0" indent="0">
              <a:buNone/>
            </a:pPr>
            <a:r>
              <a:rPr lang="en-US" sz="2600" b="1" dirty="0">
                <a:solidFill>
                  <a:srgbClr val="FEF3C7"/>
                </a:solidFill>
              </a:rPr>
              <a:t>SHADES IN THE MIST</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marL="0" indent="0">
              <a:buNone/>
            </a:pPr>
            <a:r>
              <a:rPr lang="en-US" sz="1200" dirty="0">
                <a:solidFill>
                  <a:srgbClr val="94A3B8"/>
                </a:solidFill>
              </a:rPr>
              <a:t>Prisoner's Dilemma • 3 Clashes • Face-to-Face Negotiation</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F43F5E"/>
            </a:solidFill>
            <a:prstDash val="solid"/>
          </a:ln>
        </p:spPr>
        <p:txBody>
          <a:bodyPr/>
          <a:lstStyle/>
          <a:p>
            <a:endParaRPr lang="en-IN"/>
          </a:p>
        </p:txBody>
      </p:sp>
      <p:sp>
        <p:nvSpPr>
          <p:cNvPr id="6" name="Text 4"/>
          <p:cNvSpPr/>
          <p:nvPr/>
        </p:nvSpPr>
        <p:spPr>
          <a:xfrm>
            <a:off x="914400" y="1618488"/>
            <a:ext cx="10360152" cy="502920"/>
          </a:xfrm>
          <a:prstGeom prst="rect">
            <a:avLst/>
          </a:prstGeom>
          <a:noFill/>
          <a:ln/>
        </p:spPr>
        <p:txBody>
          <a:bodyPr wrap="square" rtlCol="0" anchor="ctr"/>
          <a:lstStyle/>
          <a:p>
            <a:pPr marL="0" indent="0">
              <a:buNone/>
            </a:pPr>
            <a:r>
              <a:rPr lang="en-US" sz="1100" i="1" dirty="0">
                <a:solidFill>
                  <a:srgbClr val="FEF3C7"/>
                </a:solidFill>
              </a:rPr>
              <a:t>🏛️ The Story: You escape through the tomb door into a vast cavern hall as thick Stygian mist rolls in. Another crew of shades emerges from the shadows. Are they trustworthy friends or treacherous enemies?</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F43F5E"/>
            </a:solidFill>
            <a:prstDash val="solid"/>
          </a:ln>
        </p:spPr>
        <p:txBody>
          <a:bodyPr/>
          <a:lstStyle/>
          <a:p>
            <a:endParaRPr lang="en-IN"/>
          </a:p>
        </p:txBody>
      </p:sp>
      <p:sp>
        <p:nvSpPr>
          <p:cNvPr id="8" name="Text 6"/>
          <p:cNvSpPr/>
          <p:nvPr/>
        </p:nvSpPr>
        <p:spPr>
          <a:xfrm>
            <a:off x="960120" y="2514600"/>
            <a:ext cx="4800600" cy="365760"/>
          </a:xfrm>
          <a:prstGeom prst="rect">
            <a:avLst/>
          </a:prstGeom>
          <a:noFill/>
          <a:ln/>
        </p:spPr>
        <p:txBody>
          <a:bodyPr wrap="square" rtlCol="0" anchor="ctr"/>
          <a:lstStyle/>
          <a:p>
            <a:pPr marL="0" indent="0">
              <a:buNone/>
            </a:pPr>
            <a:r>
              <a:rPr lang="en-US" sz="1600" b="1" dirty="0">
                <a:solidFill>
                  <a:srgbClr val="FEF3C7"/>
                </a:solidFill>
              </a:rPr>
              <a:t>⚙️ Mechanics (Each Clash)</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marL="0" indent="0">
              <a:lnSpc>
                <a:spcPct val="115000"/>
              </a:lnSpc>
              <a:buNone/>
            </a:pPr>
            <a:r>
              <a:rPr lang="en-US" sz="1100" dirty="0">
                <a:solidFill>
                  <a:srgbClr val="94A3B8"/>
                </a:solidFill>
              </a:rPr>
              <a:t>Your crew faces a rival table across 3 escalating clashes:
</a:t>
            </a:r>
            <a:r>
              <a:rPr lang="en-US" sz="1100" b="1" dirty="0">
                <a:solidFill>
                  <a:srgbClr val="E2E8F0"/>
                </a:solidFill>
              </a:rPr>
              <a:t>1. Private Huddle (50s): </a:t>
            </a:r>
            <a:r>
              <a:rPr lang="en-US" sz="1100" dirty="0">
                <a:solidFill>
                  <a:srgbClr val="94A3B8"/>
                </a:solidFill>
              </a:rPr>
              <a:t>Whisper at your table. Decide your true stance: Truce or Ambush?
</a:t>
            </a:r>
            <a:r>
              <a:rPr lang="en-US" sz="1100" b="1" dirty="0">
                <a:solidFill>
                  <a:srgbClr val="E2E8F0"/>
                </a:solidFill>
              </a:rPr>
              <a:t>2. The Dialogue (40s): </a:t>
            </a:r>
            <a:r>
              <a:rPr lang="en-US" sz="1100" dirty="0">
                <a:solidFill>
                  <a:srgbClr val="94A3B8"/>
                </a:solidFill>
              </a:rPr>
              <a:t>Talk with the other team across the room (bluffing is 100% permitted!).
</a:t>
            </a:r>
            <a:r>
              <a:rPr lang="en-US" sz="1100" b="1" dirty="0">
                <a:solidFill>
                  <a:srgbClr val="E2E8F0"/>
                </a:solidFill>
              </a:rPr>
              <a:t>3. Secret Blind Vote (25s): </a:t>
            </a:r>
            <a:r>
              <a:rPr lang="en-US" sz="1100" dirty="0">
                <a:solidFill>
                  <a:srgbClr val="94A3B8"/>
                </a:solidFill>
              </a:rPr>
              <a:t>Every player secretly votes on phone. Majority rules (Negotiator breaks ties).
</a:t>
            </a:r>
            <a:r>
              <a:rPr lang="en-US" sz="1100" b="1" dirty="0">
                <a:solidFill>
                  <a:srgbClr val="E2E8F0"/>
                </a:solidFill>
              </a:rPr>
              <a:t>4. The Reveal (40s): </a:t>
            </a:r>
            <a:r>
              <a:rPr lang="en-US" sz="1100" dirty="0">
                <a:solidFill>
                  <a:srgbClr val="F59E0B"/>
                </a:solidFill>
              </a:rPr>
              <a:t>Both tables' choices unmask simultaneously on screen!</a:t>
            </a:r>
            <a:endParaRPr lang="en-US" sz="110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txBody>
          <a:bodyPr/>
          <a:lstStyle/>
          <a:p>
            <a:endParaRPr lang="en-IN"/>
          </a:p>
        </p:txBody>
      </p:sp>
      <p:sp>
        <p:nvSpPr>
          <p:cNvPr id="11" name="Text 9"/>
          <p:cNvSpPr/>
          <p:nvPr/>
        </p:nvSpPr>
        <p:spPr>
          <a:xfrm>
            <a:off x="6428232" y="2514600"/>
            <a:ext cx="4800600" cy="365760"/>
          </a:xfrm>
          <a:prstGeom prst="rect">
            <a:avLst/>
          </a:prstGeom>
          <a:noFill/>
          <a:ln/>
        </p:spPr>
        <p:txBody>
          <a:bodyPr wrap="square" rtlCol="0" anchor="ctr"/>
          <a:lstStyle/>
          <a:p>
            <a:pPr marL="0" indent="0">
              <a:buNone/>
            </a:pPr>
            <a:r>
              <a:rPr lang="en-US" sz="1600" b="1" dirty="0">
                <a:solidFill>
                  <a:srgbClr val="FEF3C7"/>
                </a:solidFill>
              </a:rPr>
              <a:t>🏆 Points Difference</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marL="0" indent="0">
              <a:lnSpc>
                <a:spcPct val="115000"/>
              </a:lnSpc>
              <a:buNone/>
            </a:pPr>
            <a:r>
              <a:rPr lang="en-US" sz="1100" b="1" dirty="0">
                <a:solidFill>
                  <a:srgbClr val="F59E0B"/>
                </a:solidFill>
              </a:rPr>
              <a:t>Points Outcomes (Stakes DOUBLE in Clash 2, TRIPLE in Clash 3!):
</a:t>
            </a:r>
            <a:r>
              <a:rPr lang="en-US" sz="1100" b="1" dirty="0">
                <a:solidFill>
                  <a:srgbClr val="10B981"/>
                </a:solidFill>
              </a:rPr>
              <a:t>🤝 Mutual Truce (Cooperation):
</a:t>
            </a:r>
            <a:r>
              <a:rPr lang="en-US" sz="1100" dirty="0">
                <a:solidFill>
                  <a:srgbClr val="94A3B8"/>
                </a:solidFill>
              </a:rPr>
              <a:t>Both teams play peaceful → Both win solid, steady points (+75 / +150 / +225 PTS).
</a:t>
            </a:r>
            <a:r>
              <a:rPr lang="en-US" sz="1100" b="1" dirty="0">
                <a:solidFill>
                  <a:srgbClr val="F43F5E"/>
                </a:solidFill>
              </a:rPr>
              <a:t>🗡️ The Backstab (Betrayal):
</a:t>
            </a:r>
            <a:r>
              <a:rPr lang="en-US" sz="1100" dirty="0">
                <a:solidFill>
                  <a:srgbClr val="94A3B8"/>
                </a:solidFill>
              </a:rPr>
              <a:t>Ambush beats Truce → Betrayer steals maximum points (+150 / +300 / +450 PTS); peaceful victim gets 0 PTS!
</a:t>
            </a:r>
            <a:r>
              <a:rPr lang="en-US" sz="1100" b="1" dirty="0">
                <a:solidFill>
                  <a:srgbClr val="F59E0B"/>
                </a:solidFill>
              </a:rPr>
              <a:t>💥 Mutual Brawl (Conflict):
</a:t>
            </a:r>
            <a:r>
              <a:rPr lang="en-US" sz="1100" dirty="0">
                <a:solidFill>
                  <a:srgbClr val="94A3B8"/>
                </a:solidFill>
              </a:rPr>
              <a:t>Both teams attack → Both walk away with scraps (+15 / +30 / +45 PTS).
</a:t>
            </a:r>
            <a:r>
              <a:rPr lang="en-US" sz="1100" i="1" dirty="0">
                <a:solidFill>
                  <a:srgbClr val="FEF3C7"/>
                </a:solidFill>
              </a:rPr>
              <a:t>⚠️ Key Tension: Promises across the room are non-binding. Will you build trust or cash in on a backstab?</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marL="0" indent="0">
              <a:buNone/>
            </a:pPr>
            <a:r>
              <a:rPr lang="en-US" sz="1000" b="1" kern="0" spc="200" dirty="0">
                <a:solidFill>
                  <a:srgbClr val="A855F7"/>
                </a:solidFill>
              </a:rPr>
              <a:t>ROUND 3 • ESCAPE ROYALE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marL="0" indent="0">
              <a:buNone/>
            </a:pPr>
            <a:r>
              <a:rPr lang="en-US" sz="2600" b="1" dirty="0">
                <a:solidFill>
                  <a:srgbClr val="FEF3C7"/>
                </a:solidFill>
              </a:rPr>
              <a:t>ESCAPE FROM TARTARUS</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marL="0" indent="0">
              <a:buNone/>
            </a:pPr>
            <a:r>
              <a:rPr lang="en-US" sz="1200" dirty="0">
                <a:solidFill>
                  <a:srgbClr val="94A3B8"/>
                </a:solidFill>
              </a:rPr>
              <a:t>River Styx Congestion Race • 1,000m to the Exit Portal</a:t>
            </a:r>
            <a:endParaRPr lang="en-US" sz="1200" dirty="0"/>
          </a:p>
        </p:txBody>
      </p:sp>
      <p:sp>
        <p:nvSpPr>
          <p:cNvPr id="5" name="Shape 3"/>
          <p:cNvSpPr/>
          <p:nvPr/>
        </p:nvSpPr>
        <p:spPr>
          <a:xfrm>
            <a:off x="731520" y="1572768"/>
            <a:ext cx="10725912" cy="594360"/>
          </a:xfrm>
          <a:prstGeom prst="rect">
            <a:avLst/>
          </a:prstGeom>
          <a:solidFill>
            <a:srgbClr val="182033"/>
          </a:solidFill>
          <a:ln w="19050">
            <a:solidFill>
              <a:srgbClr val="A855F7"/>
            </a:solidFill>
            <a:prstDash val="solid"/>
          </a:ln>
        </p:spPr>
        <p:txBody>
          <a:bodyPr/>
          <a:lstStyle/>
          <a:p>
            <a:endParaRPr lang="en-IN"/>
          </a:p>
        </p:txBody>
      </p:sp>
      <p:sp>
        <p:nvSpPr>
          <p:cNvPr id="6" name="Text 4"/>
          <p:cNvSpPr/>
          <p:nvPr/>
        </p:nvSpPr>
        <p:spPr>
          <a:xfrm>
            <a:off x="914400" y="1618488"/>
            <a:ext cx="10360152" cy="502920"/>
          </a:xfrm>
          <a:prstGeom prst="rect">
            <a:avLst/>
          </a:prstGeom>
          <a:noFill/>
          <a:ln/>
        </p:spPr>
        <p:txBody>
          <a:bodyPr wrap="square" rtlCol="0" anchor="ctr"/>
          <a:lstStyle/>
          <a:p>
            <a:pPr marL="0" indent="0">
              <a:buNone/>
            </a:pPr>
            <a:r>
              <a:rPr lang="en-US" sz="1100" i="1" dirty="0">
                <a:solidFill>
                  <a:srgbClr val="FEF3C7"/>
                </a:solidFill>
              </a:rPr>
              <a:t>🏛️ The Story: Cerberus is howling in the shadows behind you, and the exit portal across the wide River Styx is slowly starting to close. Can your crew reach the portal before it seals forever?</a:t>
            </a:r>
            <a:endParaRPr lang="en-US" sz="1100" dirty="0"/>
          </a:p>
        </p:txBody>
      </p:sp>
      <p:sp>
        <p:nvSpPr>
          <p:cNvPr id="7" name="Shape 5"/>
          <p:cNvSpPr/>
          <p:nvPr/>
        </p:nvSpPr>
        <p:spPr>
          <a:xfrm>
            <a:off x="731520" y="2331720"/>
            <a:ext cx="5257800" cy="3794760"/>
          </a:xfrm>
          <a:prstGeom prst="roundRect">
            <a:avLst>
              <a:gd name="adj" fmla="val 1928"/>
            </a:avLst>
          </a:prstGeom>
          <a:solidFill>
            <a:srgbClr val="141A2A"/>
          </a:solidFill>
          <a:ln w="19050">
            <a:solidFill>
              <a:srgbClr val="A855F7"/>
            </a:solidFill>
            <a:prstDash val="solid"/>
          </a:ln>
        </p:spPr>
        <p:txBody>
          <a:bodyPr/>
          <a:lstStyle/>
          <a:p>
            <a:endParaRPr lang="en-IN"/>
          </a:p>
        </p:txBody>
      </p:sp>
      <p:sp>
        <p:nvSpPr>
          <p:cNvPr id="8" name="Text 6"/>
          <p:cNvSpPr/>
          <p:nvPr/>
        </p:nvSpPr>
        <p:spPr>
          <a:xfrm>
            <a:off x="960120" y="2514600"/>
            <a:ext cx="4800600" cy="365760"/>
          </a:xfrm>
          <a:prstGeom prst="rect">
            <a:avLst/>
          </a:prstGeom>
          <a:noFill/>
          <a:ln/>
        </p:spPr>
        <p:txBody>
          <a:bodyPr wrap="square" rtlCol="0" anchor="ctr"/>
          <a:lstStyle/>
          <a:p>
            <a:pPr marL="0" indent="0">
              <a:buNone/>
            </a:pPr>
            <a:r>
              <a:rPr lang="en-US" sz="1600" b="1" dirty="0">
                <a:solidFill>
                  <a:srgbClr val="FEF3C7"/>
                </a:solidFill>
              </a:rPr>
              <a:t>⚙️ Mechanics: The 3 Vessels</a:t>
            </a:r>
            <a:endParaRPr lang="en-US" sz="1600" dirty="0"/>
          </a:p>
        </p:txBody>
      </p:sp>
      <p:sp>
        <p:nvSpPr>
          <p:cNvPr id="9" name="Text 7"/>
          <p:cNvSpPr/>
          <p:nvPr/>
        </p:nvSpPr>
        <p:spPr>
          <a:xfrm>
            <a:off x="960120" y="2971800"/>
            <a:ext cx="4800600" cy="2926080"/>
          </a:xfrm>
          <a:prstGeom prst="rect">
            <a:avLst/>
          </a:prstGeom>
          <a:noFill/>
          <a:ln/>
        </p:spPr>
        <p:txBody>
          <a:bodyPr wrap="square" rtlCol="0" anchor="ctr"/>
          <a:lstStyle/>
          <a:p>
            <a:pPr marL="0" indent="0">
              <a:lnSpc>
                <a:spcPct val="115000"/>
              </a:lnSpc>
              <a:buNone/>
            </a:pPr>
            <a:r>
              <a:rPr lang="en-US" sz="1100" dirty="0">
                <a:solidFill>
                  <a:srgbClr val="94A3B8"/>
                </a:solidFill>
              </a:rPr>
              <a:t>Each wave, your crew secretly votes for one vessel:
</a:t>
            </a:r>
            <a:r>
              <a:rPr lang="en-US" sz="1100" b="1" dirty="0">
                <a:solidFill>
                  <a:srgbClr val="10B981"/>
                </a:solidFill>
              </a:rPr>
              <a:t>🚣 The Rowboat (Safe):
</a:t>
            </a:r>
            <a:r>
              <a:rPr lang="en-US" sz="1100" dirty="0">
                <a:solidFill>
                  <a:srgbClr val="94A3B8"/>
                </a:solidFill>
              </a:rPr>
              <a:t>• Unlimited capacity. Always advances +150m. Never capsizes.
</a:t>
            </a:r>
            <a:r>
              <a:rPr lang="en-US" sz="1100" b="1" dirty="0">
                <a:solidFill>
                  <a:srgbClr val="F59E0B"/>
                </a:solidFill>
              </a:rPr>
              <a:t>⛵ The Sailboat (Speed vs Crowds):
</a:t>
            </a:r>
            <a:r>
              <a:rPr lang="en-US" sz="1100" dirty="0">
                <a:solidFill>
                  <a:srgbClr val="94A3B8"/>
                </a:solidFill>
              </a:rPr>
              <a:t>• Max 30% fleet capacity. Advances +300m, but CAPSIZES (0m) if overcrowded!
</a:t>
            </a:r>
            <a:r>
              <a:rPr lang="en-US" sz="1100" b="1" dirty="0">
                <a:solidFill>
                  <a:srgbClr val="A855F7"/>
                </a:solidFill>
              </a:rPr>
              <a:t>⚡ The Ghost Ship (Solo Gamble):
</a:t>
            </a:r>
            <a:r>
              <a:rPr lang="en-US" sz="1100" dirty="0">
                <a:solidFill>
                  <a:srgbClr val="94A3B8"/>
                </a:solidFill>
              </a:rPr>
              <a:t>• Exactly 1 crew. Mythic surge (+450m)! But COLLIDES (-50m) if 2+ crews board.</a:t>
            </a:r>
            <a:endParaRPr lang="en-US" sz="1100" dirty="0"/>
          </a:p>
        </p:txBody>
      </p:sp>
      <p:sp>
        <p:nvSpPr>
          <p:cNvPr id="10" name="Shape 8"/>
          <p:cNvSpPr/>
          <p:nvPr/>
        </p:nvSpPr>
        <p:spPr>
          <a:xfrm>
            <a:off x="6199632" y="2331720"/>
            <a:ext cx="5257800" cy="3794760"/>
          </a:xfrm>
          <a:prstGeom prst="roundRect">
            <a:avLst>
              <a:gd name="adj" fmla="val 1928"/>
            </a:avLst>
          </a:prstGeom>
          <a:solidFill>
            <a:srgbClr val="141A2A"/>
          </a:solidFill>
          <a:ln w="12700">
            <a:solidFill>
              <a:srgbClr val="334155"/>
            </a:solidFill>
            <a:prstDash val="solid"/>
          </a:ln>
        </p:spPr>
        <p:txBody>
          <a:bodyPr/>
          <a:lstStyle/>
          <a:p>
            <a:endParaRPr lang="en-IN"/>
          </a:p>
        </p:txBody>
      </p:sp>
      <p:sp>
        <p:nvSpPr>
          <p:cNvPr id="11" name="Text 9"/>
          <p:cNvSpPr/>
          <p:nvPr/>
        </p:nvSpPr>
        <p:spPr>
          <a:xfrm>
            <a:off x="6428232" y="2514600"/>
            <a:ext cx="4800600" cy="365760"/>
          </a:xfrm>
          <a:prstGeom prst="rect">
            <a:avLst/>
          </a:prstGeom>
          <a:noFill/>
          <a:ln/>
        </p:spPr>
        <p:txBody>
          <a:bodyPr wrap="square" rtlCol="0" anchor="ctr"/>
          <a:lstStyle/>
          <a:p>
            <a:pPr marL="0" indent="0">
              <a:buNone/>
            </a:pPr>
            <a:r>
              <a:rPr lang="en-US" sz="1600" b="1" dirty="0">
                <a:solidFill>
                  <a:srgbClr val="FEF3C7"/>
                </a:solidFill>
              </a:rPr>
              <a:t>🏆 Winning Conditions</a:t>
            </a:r>
            <a:endParaRPr lang="en-US" sz="1600" dirty="0"/>
          </a:p>
        </p:txBody>
      </p:sp>
      <p:sp>
        <p:nvSpPr>
          <p:cNvPr id="12" name="Text 10"/>
          <p:cNvSpPr/>
          <p:nvPr/>
        </p:nvSpPr>
        <p:spPr>
          <a:xfrm>
            <a:off x="6428232" y="2971800"/>
            <a:ext cx="4800600" cy="2926080"/>
          </a:xfrm>
          <a:prstGeom prst="rect">
            <a:avLst/>
          </a:prstGeom>
          <a:noFill/>
          <a:ln/>
        </p:spPr>
        <p:txBody>
          <a:bodyPr wrap="square" rtlCol="0" anchor="ctr"/>
          <a:lstStyle/>
          <a:p>
            <a:pPr marL="0" indent="0">
              <a:lnSpc>
                <a:spcPct val="115000"/>
              </a:lnSpc>
              <a:buNone/>
            </a:pPr>
            <a:r>
              <a:rPr lang="en-US" sz="1100" b="1" dirty="0">
                <a:solidFill>
                  <a:srgbClr val="E2E8F0"/>
                </a:solidFill>
              </a:rPr>
              <a:t>• Starting Head-Start: </a:t>
            </a:r>
            <a:r>
              <a:rPr lang="en-US" sz="1100" dirty="0">
                <a:solidFill>
                  <a:srgbClr val="94A3B8"/>
                </a:solidFill>
              </a:rPr>
              <a:t>Total points accumulated in Rounds 1 &amp; 2 convert directly into starting river meters.
</a:t>
            </a:r>
            <a:r>
              <a:rPr lang="en-US" sz="1100" b="1" dirty="0">
                <a:solidFill>
                  <a:srgbClr val="E2E8F0"/>
                </a:solidFill>
              </a:rPr>
              <a:t>• The Victory Gate: </a:t>
            </a:r>
            <a:r>
              <a:rPr lang="en-US" sz="1100" dirty="0">
                <a:solidFill>
                  <a:srgbClr val="F59E0B"/>
                </a:solidFill>
              </a:rPr>
              <a:t>First 3 crews to reach 1,000 meters win Gold, Silver &amp; Bronze medals!
</a:t>
            </a:r>
            <a:r>
              <a:rPr lang="en-US" sz="1100" b="1" dirty="0">
                <a:solidFill>
                  <a:srgbClr val="F43F5E"/>
                </a:solidFill>
              </a:rPr>
              <a:t>• 🐕‍🦺 Stygian Leash (Cerberus Revenge): </a:t>
            </a:r>
            <a:r>
              <a:rPr lang="en-US" sz="1100" dirty="0">
                <a:solidFill>
                  <a:srgbClr val="E2E8F0"/>
                </a:solidFill>
              </a:rPr>
              <a:t>Tether your rival's boat. If they float: steal 50m. If they crash: drag them down &amp; get +100m! (If your own boat crashes, leash snaps: 0m).
</a:t>
            </a:r>
            <a:r>
              <a:rPr lang="en-US" sz="1100" b="1" dirty="0">
                <a:solidFill>
                  <a:srgbClr val="E2E8F0"/>
                </a:solidFill>
              </a:rPr>
              <a:t>• Sudden Death Standoff: </a:t>
            </a:r>
            <a:r>
              <a:rPr lang="en-US" sz="1100" dirty="0">
                <a:solidFill>
                  <a:srgbClr val="94A3B8"/>
                </a:solidFill>
              </a:rPr>
              <a:t>Tie-breaker duel (Shields vs Ram vs Sails) if crews cross the portal simultaneously.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D14"/>
        </a:solidFill>
        <a:effectLst/>
      </p:bgPr>
    </p:bg>
    <p:spTree>
      <p:nvGrpSpPr>
        <p:cNvPr id="1" name=""/>
        <p:cNvGrpSpPr/>
        <p:nvPr/>
      </p:nvGrpSpPr>
      <p:grpSpPr>
        <a:xfrm>
          <a:off x="0" y="0"/>
          <a:ext cx="0" cy="0"/>
          <a:chOff x="0" y="0"/>
          <a:chExt cx="0" cy="0"/>
        </a:xfrm>
      </p:grpSpPr>
      <p:sp>
        <p:nvSpPr>
          <p:cNvPr id="2" name="Text 0"/>
          <p:cNvSpPr/>
          <p:nvPr/>
        </p:nvSpPr>
        <p:spPr>
          <a:xfrm>
            <a:off x="731520" y="411480"/>
            <a:ext cx="7315200" cy="256032"/>
          </a:xfrm>
          <a:prstGeom prst="rect">
            <a:avLst/>
          </a:prstGeom>
          <a:noFill/>
          <a:ln/>
        </p:spPr>
        <p:txBody>
          <a:bodyPr wrap="square" rtlCol="0" anchor="ctr"/>
          <a:lstStyle/>
          <a:p>
            <a:pPr marL="0" indent="0">
              <a:buNone/>
            </a:pPr>
            <a:r>
              <a:rPr lang="en-US" sz="1000" b="1" kern="0" spc="200" dirty="0">
                <a:solidFill>
                  <a:srgbClr val="F59E0B"/>
                </a:solidFill>
              </a:rPr>
              <a:t>FACILITATOR CHEATSHEET • AT A GLANCE</a:t>
            </a:r>
            <a:endParaRPr lang="en-US" sz="1000" dirty="0"/>
          </a:p>
        </p:txBody>
      </p:sp>
      <p:sp>
        <p:nvSpPr>
          <p:cNvPr id="3" name="Text 1"/>
          <p:cNvSpPr/>
          <p:nvPr/>
        </p:nvSpPr>
        <p:spPr>
          <a:xfrm>
            <a:off x="731520" y="658368"/>
            <a:ext cx="10725912" cy="502920"/>
          </a:xfrm>
          <a:prstGeom prst="rect">
            <a:avLst/>
          </a:prstGeom>
          <a:noFill/>
          <a:ln/>
        </p:spPr>
        <p:txBody>
          <a:bodyPr wrap="square" rtlCol="0" anchor="ctr"/>
          <a:lstStyle/>
          <a:p>
            <a:pPr marL="0" indent="0">
              <a:buNone/>
            </a:pPr>
            <a:r>
              <a:rPr lang="en-US" sz="2600" b="1" dirty="0">
                <a:solidFill>
                  <a:srgbClr val="FEF3C7"/>
                </a:solidFill>
              </a:rPr>
              <a:t>SESSION RUNNING GUIDE</a:t>
            </a:r>
            <a:endParaRPr lang="en-US" sz="2600" dirty="0"/>
          </a:p>
        </p:txBody>
      </p:sp>
      <p:sp>
        <p:nvSpPr>
          <p:cNvPr id="4" name="Text 2"/>
          <p:cNvSpPr/>
          <p:nvPr/>
        </p:nvSpPr>
        <p:spPr>
          <a:xfrm>
            <a:off x="731520" y="1170432"/>
            <a:ext cx="10725912" cy="292608"/>
          </a:xfrm>
          <a:prstGeom prst="rect">
            <a:avLst/>
          </a:prstGeom>
          <a:noFill/>
          <a:ln/>
        </p:spPr>
        <p:txBody>
          <a:bodyPr wrap="square" rtlCol="0" anchor="ctr"/>
          <a:lstStyle/>
          <a:p>
            <a:pPr marL="0" indent="0">
              <a:buNone/>
            </a:pPr>
            <a:r>
              <a:rPr lang="en-US" sz="1200" dirty="0">
                <a:solidFill>
                  <a:srgbClr val="94A3B8"/>
                </a:solidFill>
              </a:rPr>
              <a:t>Total Event Runtime: ~25 - 30 Minutes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725912" cy="3749040"/>
        </p:xfrm>
        <a:graphic>
          <a:graphicData uri="http://schemas.openxmlformats.org/drawingml/2006/table">
            <a:tbl>
              <a:tblPr/>
              <a:tblGrid>
                <a:gridCol w="2681478">
                  <a:extLst>
                    <a:ext uri="{9D8B030D-6E8A-4147-A177-3AD203B41FA5}">
                      <a16:colId xmlns:a16="http://schemas.microsoft.com/office/drawing/2014/main" val="20000"/>
                    </a:ext>
                  </a:extLst>
                </a:gridCol>
                <a:gridCol w="2681478">
                  <a:extLst>
                    <a:ext uri="{9D8B030D-6E8A-4147-A177-3AD203B41FA5}">
                      <a16:colId xmlns:a16="http://schemas.microsoft.com/office/drawing/2014/main" val="20001"/>
                    </a:ext>
                  </a:extLst>
                </a:gridCol>
                <a:gridCol w="2681478">
                  <a:extLst>
                    <a:ext uri="{9D8B030D-6E8A-4147-A177-3AD203B41FA5}">
                      <a16:colId xmlns:a16="http://schemas.microsoft.com/office/drawing/2014/main" val="20002"/>
                    </a:ext>
                  </a:extLst>
                </a:gridCol>
                <a:gridCol w="2681478">
                  <a:extLst>
                    <a:ext uri="{9D8B030D-6E8A-4147-A177-3AD203B41FA5}">
                      <a16:colId xmlns:a16="http://schemas.microsoft.com/office/drawing/2014/main" val="20003"/>
                    </a:ext>
                  </a:extLst>
                </a:gridCol>
              </a:tblGrid>
              <a:tr h="937260">
                <a:tc>
                  <a:txBody>
                    <a:bodyPr/>
                    <a:lstStyle/>
                    <a:p>
                      <a:pPr marL="0" indent="0" algn="l">
                        <a:buNone/>
                      </a:pPr>
                      <a:r>
                        <a:rPr lang="en-US" sz="1050" b="1" dirty="0">
                          <a:solidFill>
                            <a:srgbClr val="F59E0B"/>
                          </a:solidFill>
                        </a:rPr>
                        <a:t>ROUND</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l">
                        <a:buNone/>
                      </a:pPr>
                      <a:r>
                        <a:rPr lang="en-US" sz="1050" b="1" dirty="0">
                          <a:solidFill>
                            <a:srgbClr val="F59E0B"/>
                          </a:solidFill>
                        </a:rPr>
                        <a:t>CORE ACTIVITY</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l">
                        <a:buNone/>
                      </a:pPr>
                      <a:r>
                        <a:rPr lang="en-US" sz="1050" b="1" dirty="0">
                          <a:solidFill>
                            <a:srgbClr val="F59E0B"/>
                          </a:solidFill>
                        </a:rPr>
                        <a:t>HOW POINTS / PROGRESS WORK</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tc>
                  <a:txBody>
                    <a:bodyPr/>
                    <a:lstStyle/>
                    <a:p>
                      <a:pPr marL="0" indent="0" algn="l">
                        <a:buNone/>
                      </a:pPr>
                      <a:r>
                        <a:rPr lang="en-US" sz="1050" b="1" dirty="0">
                          <a:solidFill>
                            <a:srgbClr val="F59E0B"/>
                          </a:solidFill>
                        </a:rPr>
                        <a:t>COMPLETION</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0"/>
                  </a:ext>
                </a:extLst>
              </a:tr>
              <a:tr h="937260">
                <a:tc>
                  <a:txBody>
                    <a:bodyPr/>
                    <a:lstStyle/>
                    <a:p>
                      <a:pPr marL="0" indent="0" algn="l">
                        <a:buNone/>
                      </a:pPr>
                      <a:r>
                        <a:rPr lang="en-US" sz="1050" b="1" dirty="0">
                          <a:solidFill>
                            <a:srgbClr val="E2E8F0"/>
                          </a:solidFill>
                        </a:rPr>
                        <a:t>1. Shattered Tablet</a:t>
                      </a:r>
                      <a:endParaRPr lang="en-US" sz="1050" dirty="0"/>
                    </a:p>
                    <a:p>
                      <a:pPr marL="0" indent="0" algn="l">
                        <a:buNone/>
                      </a:pPr>
                      <a:r>
                        <a:rPr lang="en-US" sz="1050" b="1" dirty="0">
                          <a:solidFill>
                            <a:srgbClr val="E2E8F0"/>
                          </a:solidFill>
                        </a:rPr>
                        <a:t>(~5 min)</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Align 5 phones physically (#1 to #5) on table to connect carved fracture lines.</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Fast solve = top points. 50 PTS safety floor. No elimination.</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10B981"/>
                          </a:solidFill>
                        </a:rPr>
                        <a:t>Codeword entered or timer expires.</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extLst>
                  <a:ext uri="{0D108BD9-81ED-4DB2-BD59-A6C34878D82A}">
                    <a16:rowId xmlns:a16="http://schemas.microsoft.com/office/drawing/2014/main" val="10001"/>
                  </a:ext>
                </a:extLst>
              </a:tr>
              <a:tr h="937260">
                <a:tc>
                  <a:txBody>
                    <a:bodyPr/>
                    <a:lstStyle/>
                    <a:p>
                      <a:pPr marL="0" indent="0" algn="l">
                        <a:buNone/>
                      </a:pPr>
                      <a:r>
                        <a:rPr lang="en-US" sz="1050" b="1" dirty="0">
                          <a:solidFill>
                            <a:srgbClr val="E2E8F0"/>
                          </a:solidFill>
                        </a:rPr>
                        <a:t>2. Shades in Mist</a:t>
                      </a:r>
                      <a:endParaRPr lang="en-US" sz="1050" dirty="0"/>
                    </a:p>
                    <a:p>
                      <a:pPr marL="0" indent="0" algn="l">
                        <a:buNone/>
                      </a:pPr>
                      <a:r>
                        <a:rPr lang="en-US" sz="1050" b="1" dirty="0">
                          <a:solidFill>
                            <a:srgbClr val="E2E8F0"/>
                          </a:solidFill>
                        </a:rPr>
                        <a:t>(~8 min)</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Prisoner's Dilemma: Face rival table across 3 clashes. Talk across room &amp; vote secretly.</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Truce = steady points. Backstab = huge points or 0. Stakes triple in Clash 3.</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10B981"/>
                          </a:solidFill>
                        </a:rPr>
                        <a:t>All 3 clashes resolved.</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extLst>
                  <a:ext uri="{0D108BD9-81ED-4DB2-BD59-A6C34878D82A}">
                    <a16:rowId xmlns:a16="http://schemas.microsoft.com/office/drawing/2014/main" val="10002"/>
                  </a:ext>
                </a:extLst>
              </a:tr>
              <a:tr h="937260">
                <a:tc>
                  <a:txBody>
                    <a:bodyPr/>
                    <a:lstStyle/>
                    <a:p>
                      <a:pPr marL="0" indent="0" algn="l">
                        <a:buNone/>
                      </a:pPr>
                      <a:r>
                        <a:rPr lang="en-US" sz="1050" b="1" dirty="0">
                          <a:solidFill>
                            <a:srgbClr val="E2E8F0"/>
                          </a:solidFill>
                        </a:rPr>
                        <a:t>3. Styx Escape</a:t>
                      </a:r>
                      <a:endParaRPr lang="en-US" sz="1050" dirty="0"/>
                    </a:p>
                    <a:p>
                      <a:pPr marL="0" indent="0" algn="l">
                        <a:buNone/>
                      </a:pPr>
                      <a:r>
                        <a:rPr lang="en-US" sz="1050" b="1" dirty="0">
                          <a:solidFill>
                            <a:srgbClr val="E2E8F0"/>
                          </a:solidFill>
                        </a:rPr>
                        <a:t>(~8 min)</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Congestion race: Pick vessels (Rowboat: safe, Sailboat: 30% cap, Ghost: solo).</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94A3B8"/>
                          </a:solidFill>
                        </a:rPr>
                        <a:t>Points become starting meters. Avoid congestion and unleash Cerberus revenge.</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tc>
                  <a:txBody>
                    <a:bodyPr/>
                    <a:lstStyle/>
                    <a:p>
                      <a:pPr marL="0" indent="0" algn="l">
                        <a:buNone/>
                      </a:pPr>
                      <a:r>
                        <a:rPr lang="en-US" sz="1050" dirty="0">
                          <a:solidFill>
                            <a:srgbClr val="F59E0B"/>
                          </a:solidFill>
                        </a:rPr>
                        <a:t>Top 3 crews cross 1,000m to win Gold, Silver &amp; Bronze medals!</a:t>
                      </a:r>
                      <a:endParaRPr lang="en-US" sz="1050" dirty="0"/>
                    </a:p>
                  </a:txBody>
                  <a:tcPr anchor="ctr">
                    <a:lnL w="12700" cap="flat" cmpd="sng" algn="ctr">
                      <a:solidFill>
                        <a:srgbClr val="334155"/>
                      </a:solidFill>
                      <a:prstDash val="solid"/>
                      <a:round/>
                      <a:headEnd type="none" w="med" len="med"/>
                      <a:tailEnd type="none" w="med" len="med"/>
                    </a:lnL>
                    <a:lnR w="12700" cap="flat" cmpd="sng" algn="ctr">
                      <a:solidFill>
                        <a:srgbClr val="334155"/>
                      </a:solidFill>
                      <a:prstDash val="solid"/>
                      <a:round/>
                      <a:headEnd type="none" w="med" len="med"/>
                      <a:tailEnd type="none" w="med" len="med"/>
                    </a:lnR>
                    <a:lnT w="12700" cap="flat" cmpd="sng" algn="ctr">
                      <a:solidFill>
                        <a:srgbClr val="334155"/>
                      </a:solidFill>
                      <a:prstDash val="solid"/>
                      <a:round/>
                      <a:headEnd type="none" w="med" len="med"/>
                      <a:tailEnd type="none" w="med" len="med"/>
                    </a:lnT>
                    <a:lnB w="12700" cap="flat" cmpd="sng" algn="ctr">
                      <a:solidFill>
                        <a:srgbClr val="334155"/>
                      </a:solidFill>
                      <a:prstDash val="solid"/>
                      <a:round/>
                      <a:headEnd type="none" w="med" len="med"/>
                      <a:tailEnd type="none" w="med" len="med"/>
                    </a:lnB>
                    <a:solidFill>
                      <a:srgbClr val="141A2A"/>
                    </a:solidFill>
                  </a:tcPr>
                </a:tc>
                <a:extLst>
                  <a:ext uri="{0D108BD9-81ED-4DB2-BD59-A6C34878D82A}">
                    <a16:rowId xmlns:a16="http://schemas.microsoft.com/office/drawing/2014/main" val="10003"/>
                  </a:ext>
                </a:extLst>
              </a:tr>
            </a:tbl>
          </a:graphicData>
        </a:graphic>
      </p:graphicFrame>
      <p:sp>
        <p:nvSpPr>
          <p:cNvPr id="5" name="Shape 3"/>
          <p:cNvSpPr/>
          <p:nvPr/>
        </p:nvSpPr>
        <p:spPr>
          <a:xfrm>
            <a:off x="731520" y="5669280"/>
            <a:ext cx="10725912" cy="594360"/>
          </a:xfrm>
          <a:prstGeom prst="rect">
            <a:avLst/>
          </a:prstGeom>
          <a:solidFill>
            <a:srgbClr val="1E293B"/>
          </a:solidFill>
          <a:ln w="12700">
            <a:solidFill>
              <a:srgbClr val="F59E0B"/>
            </a:solidFill>
            <a:prstDash val="solid"/>
          </a:ln>
        </p:spPr>
        <p:txBody>
          <a:bodyPr/>
          <a:lstStyle/>
          <a:p>
            <a:endParaRPr lang="en-IN"/>
          </a:p>
        </p:txBody>
      </p:sp>
      <p:sp>
        <p:nvSpPr>
          <p:cNvPr id="7" name="Text 4"/>
          <p:cNvSpPr/>
          <p:nvPr/>
        </p:nvSpPr>
        <p:spPr>
          <a:xfrm>
            <a:off x="914400" y="5806440"/>
            <a:ext cx="10360152" cy="320040"/>
          </a:xfrm>
          <a:prstGeom prst="rect">
            <a:avLst/>
          </a:prstGeom>
          <a:noFill/>
          <a:ln/>
        </p:spPr>
        <p:txBody>
          <a:bodyPr wrap="square" rtlCol="0" anchor="ctr"/>
          <a:lstStyle/>
          <a:p>
            <a:pPr marL="0" indent="0" algn="ctr">
              <a:buNone/>
            </a:pPr>
            <a:r>
              <a:rPr lang="en-US" sz="1100" b="1" dirty="0">
                <a:solidFill>
                  <a:srgbClr val="FEF3C7"/>
                </a:solidFill>
              </a:rPr>
              <a:t>🎮 Host Operations: Game Master advances rounds at /admin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1238</Words>
  <Application>Microsoft Office PowerPoint</Application>
  <PresentationFormat>Widescreen</PresentationFormat>
  <Paragraphs>63</Paragraphs>
  <Slides>5</Slides>
  <Notes>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vt:i4>
      </vt:variant>
    </vt:vector>
  </HeadingPairs>
  <TitlesOfParts>
    <vt:vector size="7" baseType="lpstr">
      <vt:lpstr>Arial</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Underworld: The Stygian Trials - Team Briefing</dc:title>
  <dc:subject>PptxGenJS Presentation</dc:subject>
  <dc:creator>Game Master Team</dc:creator>
  <cp:lastModifiedBy>Areeb Khan</cp:lastModifiedBy>
  <cp:revision>2</cp:revision>
  <dcterms:created xsi:type="dcterms:W3CDTF">2026-10-24T01:04:37Z</dcterms:created>
  <dcterms:modified xsi:type="dcterms:W3CDTF">2026-10-24T10:50:45Z</dcterms:modified>
</cp:coreProperties>
</file>